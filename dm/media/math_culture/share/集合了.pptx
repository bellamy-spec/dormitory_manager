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3"/>
    <p:sldId id="332" r:id="rId4"/>
    <p:sldId id="354" r:id="rId5"/>
    <p:sldId id="362" r:id="rId6"/>
    <p:sldId id="363" r:id="rId7"/>
    <p:sldId id="361" r:id="rId8"/>
    <p:sldId id="367" r:id="rId9"/>
    <p:sldId id="366" r:id="rId10"/>
    <p:sldId id="368" r:id="rId11"/>
    <p:sldId id="364" r:id="rId12"/>
    <p:sldId id="365" r:id="rId13"/>
    <p:sldId id="355" r:id="rId14"/>
    <p:sldId id="357" r:id="rId16"/>
    <p:sldId id="359" r:id="rId17"/>
    <p:sldId id="360" r:id="rId18"/>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45.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4" name="幻灯片图像占位符 1"/>
          <p:cNvSpPr/>
          <p:nvPr>
            <p:ph type="sldImg"/>
          </p:nvPr>
        </p:nvSpPr>
        <p:spPr>
          <a:xfrm>
            <a:off x="1371600" y="1143000"/>
            <a:ext cx="4114800" cy="3086100"/>
          </a:xfrm>
          <a:prstGeom prst="rect">
            <a:avLst/>
          </a:prstGeom>
          <a:noFill/>
          <a:ln w="12700" cap="flat">
            <a:solidFill>
              <a:srgbClr val="000000"/>
            </a:solidFill>
            <a:prstDash val="solid"/>
            <a:round/>
            <a:headEnd type="none" w="med" len="med"/>
            <a:tailEnd type="none" w="med" len="med"/>
          </a:ln>
        </p:spPr>
      </p:sp>
      <p:sp>
        <p:nvSpPr>
          <p:cNvPr id="4195" name="文本占位符 2"/>
          <p:cNvSpPr/>
          <p:nvPr>
            <p:ph type="body" idx="1"/>
          </p:nvPr>
        </p:nvSpPr>
        <p:spPr>
          <a:xfrm>
            <a:off x="685800" y="4400550"/>
            <a:ext cx="5486400" cy="3600450"/>
          </a:xfrm>
          <a:prstGeom prst="rect">
            <a:avLst/>
          </a:prstGeom>
          <a:noFill/>
          <a:ln cap="flat">
            <a:noFill/>
            <a:prstDash val="solid"/>
            <a:miter lim="800000"/>
            <a:headEnd type="none" w="med" len="med"/>
            <a:tailEnd type="none" w="med" len="med"/>
          </a:ln>
        </p:spPr>
        <p:txBody>
          <a:bodyPr vert="horz" wrap="square" lIns="91440" tIns="45720" rIns="91440" bIns="45720" anchor="t" anchorCtr="0">
            <a:noAutofit/>
          </a:bodyPr>
          <a:lstStyle>
            <a:lvl1pPr marL="0" indent="0" algn="l"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1pPr>
            <a:lvl2pPr marL="4572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2pPr>
            <a:lvl3pPr marL="9144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3pPr>
            <a:lvl4pPr marL="13716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4pPr>
            <a:lvl5pPr marL="18288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5pPr>
          </a:lstStyle>
          <a:p>
            <a:pPr marL="0" lvl="0" indent="0" algn="l" defTabSz="914400" rtl="0" eaLnBrk="1" fontAlgn="base" hangingPunct="1">
              <a:lnSpc>
                <a:spcPct val="100000"/>
              </a:lnSpc>
              <a:spcBef>
                <a:spcPct val="0"/>
              </a:spcBef>
              <a:spcAft>
                <a:spcPct val="0"/>
              </a:spcAft>
              <a:buClrTx/>
              <a:buSzTx/>
            </a:pPr>
            <a:endParaRPr kumimoji="0" sz="1200" u="none" baseline="0">
              <a:solidFill>
                <a:schemeClr val="tx1"/>
              </a:solidFill>
              <a:latin typeface="Calibri" panose="020F0502020204030204" charset="0"/>
              <a:ea typeface="宋体" panose="02010600030101010101" pitchFamily="2" charset="-122"/>
            </a:endParaRPr>
          </a:p>
        </p:txBody>
      </p:sp>
      <p:sp>
        <p:nvSpPr>
          <p:cNvPr id="4196" name="日期占位符 3"/>
          <p:cNvSpPr/>
          <p:nvPr/>
        </p:nvSpPr>
        <p:spPr>
          <a:xfrm>
            <a:off x="3884612" y="0"/>
            <a:ext cx="2971800" cy="458788"/>
          </a:xfrm>
          <a:prstGeom prst="rect">
            <a:avLst/>
          </a:prstGeom>
          <a:noFill/>
          <a:ln cap="flat">
            <a:noFill/>
            <a:prstDash val="solid"/>
            <a:miter lim="800000"/>
            <a:headEnd type="none" w="med" len="med"/>
            <a:tailEnd type="none" w="med" len="med"/>
          </a:ln>
        </p:spPr>
        <p:txBody>
          <a:bodyPr>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r"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197" name="页眉占位符 4"/>
          <p:cNvSpPr/>
          <p:nvPr/>
        </p:nvSpPr>
        <p:spPr>
          <a:xfrm>
            <a:off x="0" y="0"/>
            <a:ext cx="2971800" cy="458788"/>
          </a:xfrm>
          <a:prstGeom prst="rect">
            <a:avLst/>
          </a:prstGeom>
          <a:noFill/>
          <a:ln cap="flat">
            <a:noFill/>
            <a:prstDash val="solid"/>
            <a:miter lim="800000"/>
            <a:headEnd type="none" w="med" len="med"/>
            <a:tailEnd type="none" w="med" len="med"/>
          </a:ln>
        </p:spPr>
        <p:txBody>
          <a:bodyPr>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l"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198" name="页脚占位符 5"/>
          <p:cNvSpPr/>
          <p:nvPr/>
        </p:nvSpPr>
        <p:spPr>
          <a:xfrm>
            <a:off x="0" y="8685212"/>
            <a:ext cx="2971800" cy="458788"/>
          </a:xfrm>
          <a:prstGeom prst="rect">
            <a:avLst/>
          </a:prstGeom>
          <a:noFill/>
          <a:ln cap="flat">
            <a:noFill/>
            <a:prstDash val="solid"/>
            <a:miter lim="800000"/>
            <a:headEnd type="none" w="med" len="med"/>
            <a:tailEnd type="none" w="med" len="med"/>
          </a:ln>
        </p:spPr>
        <p:txBody>
          <a:bodyPr anchor="b" anchorCtr="0">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l"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199" name="灯片编号占位符 6"/>
          <p:cNvSpPr/>
          <p:nvPr/>
        </p:nvSpPr>
        <p:spPr>
          <a:xfrm>
            <a:off x="3884612" y="8685212"/>
            <a:ext cx="2971800" cy="458788"/>
          </a:xfrm>
          <a:prstGeom prst="rect">
            <a:avLst/>
          </a:prstGeom>
          <a:noFill/>
          <a:ln cap="flat">
            <a:noFill/>
            <a:prstDash val="solid"/>
            <a:miter lim="800000"/>
            <a:headEnd type="none" w="med" len="med"/>
            <a:tailEnd type="none" w="med" len="med"/>
          </a:ln>
        </p:spPr>
        <p:txBody>
          <a:bodyPr anchor="b" anchorCtr="0">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r"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0" name="幻灯片图像占位符 1"/>
          <p:cNvSpPr/>
          <p:nvPr>
            <p:ph type="sldImg"/>
          </p:nvPr>
        </p:nvSpPr>
        <p:spPr>
          <a:xfrm>
            <a:off x="1371600" y="1143000"/>
            <a:ext cx="4114800" cy="3086100"/>
          </a:xfrm>
          <a:prstGeom prst="rect">
            <a:avLst/>
          </a:prstGeom>
          <a:noFill/>
          <a:ln w="12700" cap="flat">
            <a:solidFill>
              <a:srgbClr val="000000"/>
            </a:solidFill>
            <a:prstDash val="solid"/>
            <a:round/>
            <a:headEnd type="none" w="med" len="med"/>
            <a:tailEnd type="none" w="med" len="med"/>
          </a:ln>
        </p:spPr>
      </p:sp>
      <p:sp>
        <p:nvSpPr>
          <p:cNvPr id="4211" name="文本占位符 2"/>
          <p:cNvSpPr/>
          <p:nvPr>
            <p:ph type="body" idx="1"/>
          </p:nvPr>
        </p:nvSpPr>
        <p:spPr>
          <a:xfrm>
            <a:off x="685800" y="4400550"/>
            <a:ext cx="5486400" cy="3600450"/>
          </a:xfrm>
          <a:prstGeom prst="rect">
            <a:avLst/>
          </a:prstGeom>
          <a:noFill/>
          <a:ln cap="flat">
            <a:noFill/>
            <a:prstDash val="solid"/>
            <a:miter lim="800000"/>
            <a:headEnd type="none" w="med" len="med"/>
            <a:tailEnd type="none" w="med" len="med"/>
          </a:ln>
        </p:spPr>
        <p:txBody>
          <a:bodyPr vert="horz" wrap="square" lIns="91440" tIns="45720" rIns="91440" bIns="45720" anchor="t" anchorCtr="0">
            <a:noAutofit/>
          </a:bodyPr>
          <a:lstStyle>
            <a:lvl1pPr marL="0" indent="0" algn="l"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1pPr>
            <a:lvl2pPr marL="4572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2pPr>
            <a:lvl3pPr marL="9144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3pPr>
            <a:lvl4pPr marL="13716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4pPr>
            <a:lvl5pPr marL="18288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5pPr>
          </a:lstStyle>
          <a:p>
            <a:pPr marL="0" lvl="0" indent="0" algn="l" defTabSz="914400" rtl="0" eaLnBrk="1" fontAlgn="base" hangingPunct="1">
              <a:lnSpc>
                <a:spcPct val="100000"/>
              </a:lnSpc>
              <a:spcBef>
                <a:spcPct val="0"/>
              </a:spcBef>
              <a:spcAft>
                <a:spcPct val="0"/>
              </a:spcAft>
              <a:buClrTx/>
              <a:buSzTx/>
            </a:pPr>
            <a:endParaRPr kumimoji="0" sz="1200" u="none" baseline="0">
              <a:solidFill>
                <a:schemeClr val="tx1"/>
              </a:solidFill>
              <a:latin typeface="Calibri" panose="020F0502020204030204" charset="0"/>
              <a:ea typeface="宋体" panose="02010600030101010101" pitchFamily="2" charset="-122"/>
            </a:endParaRPr>
          </a:p>
        </p:txBody>
      </p:sp>
      <p:sp>
        <p:nvSpPr>
          <p:cNvPr id="4212" name="日期占位符 3"/>
          <p:cNvSpPr/>
          <p:nvPr/>
        </p:nvSpPr>
        <p:spPr>
          <a:xfrm>
            <a:off x="3884612" y="0"/>
            <a:ext cx="2971800" cy="458788"/>
          </a:xfrm>
          <a:prstGeom prst="rect">
            <a:avLst/>
          </a:prstGeom>
          <a:noFill/>
          <a:ln cap="flat">
            <a:noFill/>
            <a:prstDash val="solid"/>
            <a:miter lim="800000"/>
            <a:headEnd type="none" w="med" len="med"/>
            <a:tailEnd type="none" w="med" len="med"/>
          </a:ln>
        </p:spPr>
        <p:txBody>
          <a:bodyPr>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r"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213" name="页眉占位符 4"/>
          <p:cNvSpPr/>
          <p:nvPr/>
        </p:nvSpPr>
        <p:spPr>
          <a:xfrm>
            <a:off x="0" y="0"/>
            <a:ext cx="2971800" cy="458788"/>
          </a:xfrm>
          <a:prstGeom prst="rect">
            <a:avLst/>
          </a:prstGeom>
          <a:noFill/>
          <a:ln cap="flat">
            <a:noFill/>
            <a:prstDash val="solid"/>
            <a:miter lim="800000"/>
            <a:headEnd type="none" w="med" len="med"/>
            <a:tailEnd type="none" w="med" len="med"/>
          </a:ln>
        </p:spPr>
        <p:txBody>
          <a:bodyPr>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l"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214" name="页脚占位符 5"/>
          <p:cNvSpPr/>
          <p:nvPr/>
        </p:nvSpPr>
        <p:spPr>
          <a:xfrm>
            <a:off x="0" y="8685212"/>
            <a:ext cx="2971800" cy="458788"/>
          </a:xfrm>
          <a:prstGeom prst="rect">
            <a:avLst/>
          </a:prstGeom>
          <a:noFill/>
          <a:ln cap="flat">
            <a:noFill/>
            <a:prstDash val="solid"/>
            <a:miter lim="800000"/>
            <a:headEnd type="none" w="med" len="med"/>
            <a:tailEnd type="none" w="med" len="med"/>
          </a:ln>
        </p:spPr>
        <p:txBody>
          <a:bodyPr anchor="b" anchorCtr="0">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l"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215" name="灯片编号占位符 6"/>
          <p:cNvSpPr/>
          <p:nvPr/>
        </p:nvSpPr>
        <p:spPr>
          <a:xfrm>
            <a:off x="3884612" y="8685212"/>
            <a:ext cx="2971800" cy="458788"/>
          </a:xfrm>
          <a:prstGeom prst="rect">
            <a:avLst/>
          </a:prstGeom>
          <a:noFill/>
          <a:ln cap="flat">
            <a:noFill/>
            <a:prstDash val="solid"/>
            <a:miter lim="800000"/>
            <a:headEnd type="none" w="med" len="med"/>
            <a:tailEnd type="none" w="med" len="med"/>
          </a:ln>
        </p:spPr>
        <p:txBody>
          <a:bodyPr anchor="b" anchorCtr="0">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r"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 name="幻灯片图像占位符 1"/>
          <p:cNvSpPr/>
          <p:nvPr>
            <p:ph type="sldImg"/>
          </p:nvPr>
        </p:nvSpPr>
        <p:spPr>
          <a:xfrm>
            <a:off x="1371600" y="1143000"/>
            <a:ext cx="4114800" cy="3086100"/>
          </a:xfrm>
          <a:prstGeom prst="rect">
            <a:avLst/>
          </a:prstGeom>
          <a:noFill/>
          <a:ln w="12700" cap="flat">
            <a:solidFill>
              <a:srgbClr val="000000"/>
            </a:solidFill>
            <a:prstDash val="solid"/>
            <a:round/>
            <a:headEnd type="none" w="med" len="med"/>
            <a:tailEnd type="none" w="med" len="med"/>
          </a:ln>
        </p:spPr>
      </p:sp>
      <p:sp>
        <p:nvSpPr>
          <p:cNvPr id="4219" name="文本占位符 2"/>
          <p:cNvSpPr/>
          <p:nvPr>
            <p:ph type="body" idx="1"/>
          </p:nvPr>
        </p:nvSpPr>
        <p:spPr>
          <a:xfrm>
            <a:off x="685800" y="4400550"/>
            <a:ext cx="5486400" cy="3600450"/>
          </a:xfrm>
          <a:prstGeom prst="rect">
            <a:avLst/>
          </a:prstGeom>
          <a:noFill/>
          <a:ln cap="flat">
            <a:noFill/>
            <a:prstDash val="solid"/>
            <a:miter lim="800000"/>
            <a:headEnd type="none" w="med" len="med"/>
            <a:tailEnd type="none" w="med" len="med"/>
          </a:ln>
        </p:spPr>
        <p:txBody>
          <a:bodyPr vert="horz" wrap="square" lIns="91440" tIns="45720" rIns="91440" bIns="45720" anchor="t" anchorCtr="0">
            <a:noAutofit/>
          </a:bodyPr>
          <a:lstStyle>
            <a:lvl1pPr marL="0" indent="0" algn="l"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1pPr>
            <a:lvl2pPr marL="4572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2pPr>
            <a:lvl3pPr marL="9144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3pPr>
            <a:lvl4pPr marL="13716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4pPr>
            <a:lvl5pPr marL="1828800" indent="0" algn="l" defTabSz="914400" rtl="0" eaLnBrk="1" fontAlgn="base" hangingPunct="1">
              <a:lnSpc>
                <a:spcPct val="100000"/>
              </a:lnSpc>
              <a:spcBef>
                <a:spcPct val="30000"/>
              </a:spcBef>
              <a:spcAft>
                <a:spcPct val="0"/>
              </a:spcAft>
              <a:buClrTx/>
              <a:buSzTx/>
              <a:buFontTx/>
              <a:buNone/>
              <a:defRPr kumimoji="0" lang="zh-CN" altLang="en-US" sz="1200" b="0" i="0" u="none" baseline="0">
                <a:solidFill>
                  <a:schemeClr val="tx1"/>
                </a:solidFill>
                <a:latin typeface="Calibri" panose="020F0502020204030204" charset="0"/>
                <a:ea typeface="宋体" panose="02010600030101010101" pitchFamily="2" charset="-122"/>
              </a:defRPr>
            </a:lvl5pPr>
          </a:lstStyle>
          <a:p>
            <a:pPr marL="0" lvl="0" indent="0" algn="l" defTabSz="914400" rtl="0" eaLnBrk="1" fontAlgn="base" hangingPunct="1">
              <a:lnSpc>
                <a:spcPct val="100000"/>
              </a:lnSpc>
              <a:spcBef>
                <a:spcPct val="0"/>
              </a:spcBef>
              <a:spcAft>
                <a:spcPct val="0"/>
              </a:spcAft>
              <a:buClrTx/>
              <a:buSzTx/>
            </a:pPr>
            <a:endParaRPr kumimoji="0" sz="1200" u="none" baseline="0">
              <a:solidFill>
                <a:schemeClr val="tx1"/>
              </a:solidFill>
              <a:latin typeface="Calibri" panose="020F0502020204030204" charset="0"/>
              <a:ea typeface="宋体" panose="02010600030101010101" pitchFamily="2" charset="-122"/>
            </a:endParaRPr>
          </a:p>
        </p:txBody>
      </p:sp>
      <p:sp>
        <p:nvSpPr>
          <p:cNvPr id="4220" name="日期占位符 3"/>
          <p:cNvSpPr/>
          <p:nvPr/>
        </p:nvSpPr>
        <p:spPr>
          <a:xfrm>
            <a:off x="3884612" y="0"/>
            <a:ext cx="2971800" cy="458788"/>
          </a:xfrm>
          <a:prstGeom prst="rect">
            <a:avLst/>
          </a:prstGeom>
          <a:noFill/>
          <a:ln cap="flat">
            <a:noFill/>
            <a:prstDash val="solid"/>
            <a:miter lim="800000"/>
            <a:headEnd type="none" w="med" len="med"/>
            <a:tailEnd type="none" w="med" len="med"/>
          </a:ln>
        </p:spPr>
        <p:txBody>
          <a:bodyPr>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r"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221" name="页眉占位符 4"/>
          <p:cNvSpPr/>
          <p:nvPr/>
        </p:nvSpPr>
        <p:spPr>
          <a:xfrm>
            <a:off x="0" y="0"/>
            <a:ext cx="2971800" cy="458788"/>
          </a:xfrm>
          <a:prstGeom prst="rect">
            <a:avLst/>
          </a:prstGeom>
          <a:noFill/>
          <a:ln cap="flat">
            <a:noFill/>
            <a:prstDash val="solid"/>
            <a:miter lim="800000"/>
            <a:headEnd type="none" w="med" len="med"/>
            <a:tailEnd type="none" w="med" len="med"/>
          </a:ln>
        </p:spPr>
        <p:txBody>
          <a:bodyPr>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l"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222" name="页脚占位符 5"/>
          <p:cNvSpPr/>
          <p:nvPr/>
        </p:nvSpPr>
        <p:spPr>
          <a:xfrm>
            <a:off x="0" y="8685212"/>
            <a:ext cx="2971800" cy="458788"/>
          </a:xfrm>
          <a:prstGeom prst="rect">
            <a:avLst/>
          </a:prstGeom>
          <a:noFill/>
          <a:ln cap="flat">
            <a:noFill/>
            <a:prstDash val="solid"/>
            <a:miter lim="800000"/>
            <a:headEnd type="none" w="med" len="med"/>
            <a:tailEnd type="none" w="med" len="med"/>
          </a:ln>
        </p:spPr>
        <p:txBody>
          <a:bodyPr anchor="b" anchorCtr="0">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l"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
        <p:nvSpPr>
          <p:cNvPr id="4223" name="灯片编号占位符 6"/>
          <p:cNvSpPr/>
          <p:nvPr/>
        </p:nvSpPr>
        <p:spPr>
          <a:xfrm>
            <a:off x="3884612" y="8685212"/>
            <a:ext cx="2971800" cy="458788"/>
          </a:xfrm>
          <a:prstGeom prst="rect">
            <a:avLst/>
          </a:prstGeom>
          <a:noFill/>
          <a:ln cap="flat">
            <a:noFill/>
            <a:prstDash val="solid"/>
            <a:miter lim="800000"/>
            <a:headEnd type="none" w="med" len="med"/>
            <a:tailEnd type="none" w="med" len="med"/>
          </a:ln>
        </p:spPr>
        <p:txBody>
          <a:bodyPr anchor="b" anchorCtr="0">
            <a:noAutofit/>
          </a:bodyPr>
          <a:lstStyle>
            <a:lvl1pPr marL="0" indent="0" algn="l" defTabSz="914400" rtl="0" eaLnBrk="1" fontAlgn="base" hangingPunct="1">
              <a:lnSpc>
                <a:spcPct val="100000"/>
              </a:lnSpc>
              <a:spcBef>
                <a:spcPct val="30000"/>
              </a:spcBef>
              <a:spcAft>
                <a:spcPct val="0"/>
              </a:spcAft>
              <a:buSzTx/>
              <a:buFont typeface="Arial" panose="020B0604020202020204"/>
              <a:buChar char="•"/>
              <a:defRPr kumimoji="0" lang="zh-CN" altLang="en-US" sz="1200" b="0" i="0" u="none" baseline="0">
                <a:solidFill>
                  <a:schemeClr val="tx1"/>
                </a:solidFill>
                <a:latin typeface="Arial" panose="020B0604020202020204"/>
              </a:defRPr>
            </a:lvl1pPr>
          </a:lstStyle>
          <a:p>
            <a:pPr marL="0" lvl="0" indent="0" algn="r" defTabSz="914400" rtl="0" eaLnBrk="1" fontAlgn="base" hangingPunct="1">
              <a:lnSpc>
                <a:spcPct val="100000"/>
              </a:lnSpc>
              <a:spcBef>
                <a:spcPct val="0"/>
              </a:spcBef>
              <a:spcAft>
                <a:spcPct val="0"/>
              </a:spcAft>
              <a:buClrTx/>
              <a:buSzTx/>
            </a:pPr>
            <a:r>
              <a:rPr kumimoji="0" lang="zh-CN" altLang="en-US" sz="1200" u="none" baseline="0">
                <a:solidFill>
                  <a:schemeClr val="tx1"/>
                </a:solidFill>
                <a:latin typeface="Calibri" panose="020F0502020204030204" charset="0"/>
                <a:ea typeface="宋体" panose="02010600030101010101" pitchFamily="2" charset="-122"/>
              </a:rPr>
              <a:t>-</a:t>
            </a:r>
            <a:endParaRPr kumimoji="0" lang="zh-CN" altLang="en-US" sz="1200" u="none" baseline="0">
              <a:solidFill>
                <a:schemeClr val="tx1"/>
              </a:solidFill>
              <a:latin typeface="Calibri" panose="020F050202020403020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media/image1.jpeg"/><Relationship Id="rId3" Type="http://schemas.openxmlformats.org/officeDocument/2006/relationships/tags" Target="../tags/tag7.xml"/><Relationship Id="rId2" Type="http://schemas.openxmlformats.org/officeDocument/2006/relationships/image" Target="../media/image2.png"/><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jpeg"/><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emf"/><Relationship Id="rId7" Type="http://schemas.openxmlformats.org/officeDocument/2006/relationships/image" Target="../media/image5.emf"/><Relationship Id="rId6" Type="http://schemas.openxmlformats.org/officeDocument/2006/relationships/image" Target="../media/image4.png"/><Relationship Id="rId5" Type="http://schemas.openxmlformats.org/officeDocument/2006/relationships/image" Target="../media/image1.jpeg"/><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image" Target="../media/image1.jpeg"/><Relationship Id="rId1" Type="http://schemas.openxmlformats.org/officeDocument/2006/relationships/tags" Target="../tags/tag35.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10.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tags" Target="../tags/tag43.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tags" Target="../tags/tag4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descr="校徽"/>
          <p:cNvPicPr>
            <a:picLocks noChangeAspect="1"/>
          </p:cNvPicPr>
          <p:nvPr>
            <p:custDataLst>
              <p:tags r:id="rId1"/>
            </p:custDataLst>
          </p:nvPr>
        </p:nvPicPr>
        <p:blipFill>
          <a:blip r:embed="rId2"/>
          <a:stretch>
            <a:fillRect/>
          </a:stretch>
        </p:blipFill>
        <p:spPr>
          <a:xfrm>
            <a:off x="10460355" y="202565"/>
            <a:ext cx="880745" cy="863600"/>
          </a:xfrm>
          <a:prstGeom prst="rect">
            <a:avLst/>
          </a:prstGeom>
        </p:spPr>
      </p:pic>
      <p:sp>
        <p:nvSpPr>
          <p:cNvPr id="5" name="标题 4"/>
          <p:cNvSpPr>
            <a:spLocks noGrp="1"/>
          </p:cNvSpPr>
          <p:nvPr>
            <p:ph type="ctrTitle" sz="quarter"/>
          </p:nvPr>
        </p:nvSpPr>
        <p:spPr>
          <a:xfrm>
            <a:off x="2820035" y="1740535"/>
            <a:ext cx="5588635" cy="1348105"/>
          </a:xfrm>
        </p:spPr>
        <p:txBody>
          <a:bodyPr>
            <a:normAutofit fontScale="90000"/>
          </a:bodyPr>
          <a:p>
            <a:r>
              <a:rPr lang="zh-CN" altLang="en-US" dirty="0">
                <a:solidFill>
                  <a:srgbClr val="002060"/>
                </a:solidFill>
              </a:rPr>
              <a:t>第</a:t>
            </a:r>
            <a:r>
              <a:rPr lang="en-US" altLang="zh-CN" dirty="0">
                <a:solidFill>
                  <a:srgbClr val="002060"/>
                </a:solidFill>
              </a:rPr>
              <a:t>2</a:t>
            </a:r>
            <a:r>
              <a:rPr lang="zh-CN" altLang="en-US" dirty="0">
                <a:solidFill>
                  <a:srgbClr val="002060"/>
                </a:solidFill>
              </a:rPr>
              <a:t>讲</a:t>
            </a:r>
            <a:r>
              <a:rPr lang="en-US" altLang="zh-CN" dirty="0">
                <a:solidFill>
                  <a:srgbClr val="002060"/>
                </a:solidFill>
              </a:rPr>
              <a:t>    “</a:t>
            </a:r>
            <a:r>
              <a:rPr lang="zh-CN" altLang="en-US" dirty="0">
                <a:solidFill>
                  <a:srgbClr val="002060"/>
                </a:solidFill>
              </a:rPr>
              <a:t>集合</a:t>
            </a:r>
            <a:r>
              <a:rPr lang="en-US" altLang="zh-CN" dirty="0">
                <a:solidFill>
                  <a:srgbClr val="002060"/>
                </a:solidFill>
              </a:rPr>
              <a:t>”</a:t>
            </a:r>
            <a:r>
              <a:rPr lang="zh-CN" altLang="en-US" dirty="0">
                <a:solidFill>
                  <a:srgbClr val="002060"/>
                </a:solidFill>
              </a:rPr>
              <a:t>了</a:t>
            </a:r>
            <a:endParaRPr lang="zh-CN" altLang="en-US"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825625"/>
            <a:ext cx="10310495" cy="4351655"/>
          </a:xfrm>
        </p:spPr>
        <p:txBody>
          <a:bodyPr/>
          <a:p>
            <a:pPr marL="0" indent="0">
              <a:buNone/>
            </a:pPr>
            <a:r>
              <a:rPr lang="en-US" altLang="zh-CN" sz="3200">
                <a:latin typeface="楷体" panose="02010609060101010101" charset="-122"/>
                <a:ea typeface="楷体" panose="02010609060101010101" charset="-122"/>
                <a:cs typeface="楷体" panose="02010609060101010101" charset="-122"/>
              </a:rPr>
              <a:t>1.</a:t>
            </a:r>
            <a:r>
              <a:rPr lang="zh-CN" altLang="en-US" sz="3200">
                <a:latin typeface="楷体" panose="02010609060101010101" charset="-122"/>
                <a:ea typeface="楷体" panose="02010609060101010101" charset="-122"/>
                <a:cs typeface="楷体" panose="02010609060101010101" charset="-122"/>
              </a:rPr>
              <a:t>了解第三次数学危机与集合产生的</a:t>
            </a:r>
            <a:r>
              <a:rPr lang="zh-CN" altLang="en-US" sz="3200">
                <a:latin typeface="楷体" panose="02010609060101010101" charset="-122"/>
                <a:ea typeface="楷体" panose="02010609060101010101" charset="-122"/>
                <a:cs typeface="楷体" panose="02010609060101010101" charset="-122"/>
              </a:rPr>
              <a:t>背景；</a:t>
            </a:r>
            <a:endParaRPr lang="zh-CN" altLang="en-US" sz="3200">
              <a:latin typeface="楷体" panose="02010609060101010101" charset="-122"/>
              <a:ea typeface="楷体" panose="02010609060101010101" charset="-122"/>
              <a:cs typeface="楷体" panose="02010609060101010101" charset="-122"/>
            </a:endParaRPr>
          </a:p>
          <a:p>
            <a:pPr marL="0" indent="0">
              <a:buNone/>
            </a:pPr>
            <a:r>
              <a:rPr lang="en-US" altLang="zh-CN" sz="3200">
                <a:latin typeface="楷体" panose="02010609060101010101" charset="-122"/>
                <a:ea typeface="楷体" panose="02010609060101010101" charset="-122"/>
                <a:cs typeface="楷体" panose="02010609060101010101" charset="-122"/>
              </a:rPr>
              <a:t>2.</a:t>
            </a:r>
            <a:r>
              <a:rPr lang="zh-CN" altLang="en-US" sz="3200">
                <a:latin typeface="楷体" panose="02010609060101010101" charset="-122"/>
                <a:ea typeface="楷体" panose="02010609060101010101" charset="-122"/>
                <a:cs typeface="楷体" panose="02010609060101010101" charset="-122"/>
              </a:rPr>
              <a:t>通过短片了解集合的</a:t>
            </a:r>
            <a:r>
              <a:rPr lang="zh-CN" altLang="en-US" sz="3200">
                <a:latin typeface="楷体" panose="02010609060101010101" charset="-122"/>
                <a:ea typeface="楷体" panose="02010609060101010101" charset="-122"/>
                <a:cs typeface="楷体" panose="02010609060101010101" charset="-122"/>
              </a:rPr>
              <a:t>应用；</a:t>
            </a:r>
            <a:endParaRPr lang="zh-CN" altLang="en-US" sz="3200">
              <a:latin typeface="楷体" panose="02010609060101010101" charset="-122"/>
              <a:ea typeface="楷体" panose="02010609060101010101" charset="-122"/>
              <a:cs typeface="楷体" panose="02010609060101010101" charset="-122"/>
            </a:endParaRPr>
          </a:p>
          <a:p>
            <a:pPr marL="0" indent="0">
              <a:buNone/>
            </a:pPr>
            <a:r>
              <a:rPr lang="en-US" altLang="zh-CN" sz="3200">
                <a:latin typeface="楷体" panose="02010609060101010101" charset="-122"/>
                <a:ea typeface="楷体" panose="02010609060101010101" charset="-122"/>
                <a:cs typeface="楷体" panose="02010609060101010101" charset="-122"/>
              </a:rPr>
              <a:t>3.</a:t>
            </a:r>
            <a:r>
              <a:rPr lang="zh-CN" altLang="en-US" sz="3200">
                <a:latin typeface="楷体" panose="02010609060101010101" charset="-122"/>
                <a:ea typeface="楷体" panose="02010609060101010101" charset="-122"/>
                <a:cs typeface="楷体" panose="02010609060101010101" charset="-122"/>
              </a:rPr>
              <a:t>能够</a:t>
            </a:r>
            <a:r>
              <a:rPr lang="zh-CN" altLang="en-US" sz="3200">
                <a:latin typeface="楷体" panose="02010609060101010101" charset="-122"/>
                <a:ea typeface="楷体" panose="02010609060101010101" charset="-122"/>
                <a:cs typeface="楷体" panose="02010609060101010101" charset="-122"/>
                <a:sym typeface="+mn-ea"/>
              </a:rPr>
              <a:t>提升数学</a:t>
            </a:r>
            <a:r>
              <a:rPr lang="zh-CN" altLang="en-US" sz="3200">
                <a:latin typeface="楷体" panose="02010609060101010101" charset="-122"/>
                <a:ea typeface="楷体" panose="02010609060101010101" charset="-122"/>
                <a:cs typeface="楷体" panose="02010609060101010101" charset="-122"/>
                <a:sym typeface="+mn-ea"/>
              </a:rPr>
              <a:t>运算、直观想象和数学抽象素养。</a:t>
            </a:r>
            <a:endParaRPr lang="zh-CN" altLang="en-US" sz="3200">
              <a:latin typeface="楷体" panose="02010609060101010101" charset="-122"/>
              <a:ea typeface="楷体" panose="02010609060101010101" charset="-122"/>
              <a:cs typeface="楷体" panose="02010609060101010101" charset="-122"/>
              <a:sym typeface="+mn-ea"/>
            </a:endParaRPr>
          </a:p>
        </p:txBody>
      </p:sp>
      <p:sp>
        <p:nvSpPr>
          <p:cNvPr id="4" name="矩形 3"/>
          <p:cNvSpPr/>
          <p:nvPr>
            <p:custDataLst>
              <p:tags r:id="rId1"/>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2"/>
            </p:custDataLst>
          </p:nvPr>
        </p:nvSpPr>
        <p:spPr>
          <a:xfrm>
            <a:off x="1384473" y="252806"/>
            <a:ext cx="2062998" cy="521970"/>
          </a:xfrm>
          <a:prstGeom prst="rect">
            <a:avLst/>
          </a:prstGeom>
          <a:noFill/>
        </p:spPr>
        <p:txBody>
          <a:bodyPr wrap="square" rtlCol="0">
            <a:spAutoFit/>
          </a:bodyPr>
          <a:p>
            <a:pPr algn="ct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学习</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目标</a:t>
            </a:r>
            <a:endPar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3"/>
            </p:custDataLst>
          </p:nvPr>
        </p:nvSpPr>
        <p:spPr>
          <a:xfrm>
            <a:off x="3447415" y="31051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4"/>
            </p:custDataLst>
          </p:nvPr>
        </p:nvPicPr>
        <p:blipFill>
          <a:blip r:embed="rId5"/>
          <a:stretch>
            <a:fillRect/>
          </a:stretch>
        </p:blipFill>
        <p:spPr>
          <a:xfrm>
            <a:off x="11303635" y="10795"/>
            <a:ext cx="880745" cy="863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Drawing 2"/>
          <p:cNvPicPr>
            <a:picLocks noChangeAspect="1"/>
          </p:cNvPicPr>
          <p:nvPr>
            <p:custDataLst>
              <p:tags r:id="rId1"/>
            </p:custDataLst>
          </p:nvPr>
        </p:nvPicPr>
        <p:blipFill>
          <a:blip r:embed="rId2"/>
          <a:stretch>
            <a:fillRect/>
          </a:stretch>
        </p:blipFill>
        <p:spPr>
          <a:xfrm>
            <a:off x="8713470" y="1924685"/>
            <a:ext cx="2402205" cy="3555365"/>
          </a:xfrm>
          <a:prstGeom prst="rect">
            <a:avLst/>
          </a:prstGeom>
        </p:spPr>
      </p:pic>
      <p:sp>
        <p:nvSpPr>
          <p:cNvPr id="100" name="文本框 99"/>
          <p:cNvSpPr txBox="1"/>
          <p:nvPr/>
        </p:nvSpPr>
        <p:spPr>
          <a:xfrm>
            <a:off x="1826260" y="1151890"/>
            <a:ext cx="6174740" cy="4399915"/>
          </a:xfrm>
          <a:prstGeom prst="rect">
            <a:avLst/>
          </a:prstGeom>
          <a:noFill/>
          <a:ln w="9525">
            <a:noFill/>
          </a:ln>
        </p:spPr>
        <p:txBody>
          <a:bodyPr wrap="square">
            <a:spAutoFit/>
          </a:bodyPr>
          <a:p>
            <a:pPr indent="0"/>
            <a:r>
              <a:rPr lang="en-US" altLang="zh-CN" sz="2800" b="1">
                <a:solidFill>
                  <a:srgbClr val="000000"/>
                </a:solidFill>
                <a:ea typeface="宋体" panose="02010600030101010101" pitchFamily="2" charset="-122"/>
              </a:rPr>
              <a:t>      </a:t>
            </a:r>
            <a:r>
              <a:rPr lang="zh-CN" sz="2800" b="1">
                <a:solidFill>
                  <a:srgbClr val="000000"/>
                </a:solidFill>
                <a:ea typeface="宋体" panose="02010600030101010101" pitchFamily="2" charset="-122"/>
              </a:rPr>
              <a:t>集合论是德国数学家康托尔于19世纪末创立的.当时，康托尔在解决涉及无限量研究的数学问题时，越过“数集”限制，提出了一般性的“集合”概念. </a:t>
            </a:r>
            <a:r>
              <a:rPr lang="en-US" altLang="zh-CN" sz="2800" b="1">
                <a:solidFill>
                  <a:srgbClr val="000000"/>
                </a:solidFill>
                <a:ea typeface="宋体" panose="02010600030101010101" pitchFamily="2" charset="-122"/>
              </a:rPr>
              <a:t>     </a:t>
            </a:r>
            <a:endParaRPr lang="en-US" altLang="zh-CN" sz="2800" b="1">
              <a:solidFill>
                <a:srgbClr val="000000"/>
              </a:solidFill>
              <a:ea typeface="宋体" panose="02010600030101010101" pitchFamily="2" charset="-122"/>
            </a:endParaRPr>
          </a:p>
          <a:p>
            <a:pPr indent="0"/>
            <a:r>
              <a:rPr lang="en-US" altLang="zh-CN" sz="2800" b="1">
                <a:solidFill>
                  <a:srgbClr val="000000"/>
                </a:solidFill>
                <a:ea typeface="宋体" panose="02010600030101010101" pitchFamily="2" charset="-122"/>
              </a:rPr>
              <a:t>      </a:t>
            </a:r>
            <a:r>
              <a:rPr lang="zh-CN" sz="2800" b="1">
                <a:solidFill>
                  <a:srgbClr val="000000"/>
                </a:solidFill>
                <a:ea typeface="宋体" panose="02010600030101010101" pitchFamily="2" charset="-122"/>
              </a:rPr>
              <a:t>关于集合论，希尔伯特赞誉其为“数学思想的惊人的产物，在纯粹理性的范畴中人类活动的最美的表现之一”，罗素描述其为“可能是这个时代所能夸耀的最伟大的工作”.</a:t>
            </a:r>
            <a:endParaRPr lang="zh-CN" altLang="en-US" sz="2800" b="1">
              <a:solidFill>
                <a:srgbClr val="000000"/>
              </a:solidFill>
              <a:ea typeface="宋体" panose="02010600030101010101" pitchFamily="2" charset="-122"/>
            </a:endParaRPr>
          </a:p>
        </p:txBody>
      </p:sp>
      <p:pic>
        <p:nvPicPr>
          <p:cNvPr id="24" name="图片 23" descr="校徽"/>
          <p:cNvPicPr>
            <a:picLocks noChangeAspect="1"/>
          </p:cNvPicPr>
          <p:nvPr>
            <p:custDataLst>
              <p:tags r:id="rId3"/>
            </p:custDataLst>
          </p:nvPr>
        </p:nvPicPr>
        <p:blipFill>
          <a:blip r:embed="rId4"/>
          <a:stretch>
            <a:fillRect/>
          </a:stretch>
        </p:blipFill>
        <p:spPr>
          <a:xfrm>
            <a:off x="10431145" y="144145"/>
            <a:ext cx="880745" cy="863600"/>
          </a:xfrm>
          <a:prstGeom prst="rect">
            <a:avLst/>
          </a:prstGeom>
        </p:spPr>
      </p:pic>
      <p:sp>
        <p:nvSpPr>
          <p:cNvPr id="4" name="矩形 3"/>
          <p:cNvSpPr/>
          <p:nvPr>
            <p:custDataLst>
              <p:tags r:id="rId5"/>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custDataLst>
              <p:tags r:id="rId6"/>
            </p:custDataLst>
          </p:nvPr>
        </p:nvSpPr>
        <p:spPr>
          <a:xfrm>
            <a:off x="1384300" y="252730"/>
            <a:ext cx="3544570" cy="521970"/>
          </a:xfrm>
          <a:prstGeom prst="rect">
            <a:avLst/>
          </a:prstGeom>
          <a:noFill/>
        </p:spPr>
        <p:txBody>
          <a:bodyPr wrap="square" rtlCol="0">
            <a:spAutoFit/>
          </a:bodyPr>
          <a:p>
            <a:pPr algn="ct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1.</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集合的产生与</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意义</a:t>
            </a:r>
            <a:endPar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3" name="矩形 2"/>
          <p:cNvSpPr/>
          <p:nvPr>
            <p:custDataLst>
              <p:tags r:id="rId7"/>
            </p:custDataLst>
          </p:nvPr>
        </p:nvSpPr>
        <p:spPr>
          <a:xfrm>
            <a:off x="4928870" y="37909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custDataLst>
              <p:tags r:id="rId1"/>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2"/>
            </p:custDataLst>
          </p:nvPr>
        </p:nvSpPr>
        <p:spPr>
          <a:xfrm>
            <a:off x="1257300" y="252730"/>
            <a:ext cx="2268220" cy="521970"/>
          </a:xfrm>
          <a:prstGeom prst="rect">
            <a:avLst/>
          </a:prstGeom>
          <a:noFill/>
        </p:spPr>
        <p:txBody>
          <a:bodyPr wrap="square" rtlCol="0">
            <a:spAutoFit/>
          </a:bodyPr>
          <a:p>
            <a:pPr algn="ct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2.</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集合是</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什么</a:t>
            </a:r>
            <a:endPar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3"/>
            </p:custDataLst>
          </p:nvPr>
        </p:nvSpPr>
        <p:spPr>
          <a:xfrm>
            <a:off x="3447415" y="31051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4"/>
            </p:custDataLst>
          </p:nvPr>
        </p:nvPicPr>
        <p:blipFill>
          <a:blip r:embed="rId5"/>
          <a:stretch>
            <a:fillRect/>
          </a:stretch>
        </p:blipFill>
        <p:spPr>
          <a:xfrm>
            <a:off x="10521950" y="310515"/>
            <a:ext cx="880745" cy="863600"/>
          </a:xfrm>
          <a:prstGeom prst="rect">
            <a:avLst/>
          </a:prstGeom>
        </p:spPr>
      </p:pic>
      <p:sp>
        <p:nvSpPr>
          <p:cNvPr id="8" name="文本框 7"/>
          <p:cNvSpPr txBox="1"/>
          <p:nvPr/>
        </p:nvSpPr>
        <p:spPr>
          <a:xfrm>
            <a:off x="527050" y="1019810"/>
            <a:ext cx="8996680" cy="1445260"/>
          </a:xfrm>
          <a:prstGeom prst="rect">
            <a:avLst/>
          </a:prstGeom>
          <a:noFill/>
        </p:spPr>
        <p:txBody>
          <a:bodyPr wrap="square" rtlCol="0" anchor="t">
            <a:spAutoFit/>
          </a:bodyPr>
          <a:p>
            <a:r>
              <a:rPr lang="zh-CN" altLang="en-US" sz="3200" b="1">
                <a:solidFill>
                  <a:srgbClr val="FF0000"/>
                </a:solidFill>
              </a:rPr>
              <a:t>集合</a:t>
            </a:r>
            <a:r>
              <a:rPr lang="zh-CN" altLang="en-US" sz="2800"/>
              <a:t>是现代数学的一个基本概念，它是指具有某种特定性质的事物的总体。组成集合的事物称为该集合的元素。简单来说，集合就是一些确定的、不同的元素的全体</a:t>
            </a:r>
            <a:endParaRPr lang="zh-CN" altLang="en-US" sz="2800"/>
          </a:p>
        </p:txBody>
      </p:sp>
      <p:sp>
        <p:nvSpPr>
          <p:cNvPr id="9" name="文本框 8"/>
          <p:cNvSpPr txBox="1"/>
          <p:nvPr/>
        </p:nvSpPr>
        <p:spPr>
          <a:xfrm>
            <a:off x="876300" y="2780030"/>
            <a:ext cx="10239375" cy="1630045"/>
          </a:xfrm>
          <a:prstGeom prst="rect">
            <a:avLst/>
          </a:prstGeom>
          <a:noFill/>
        </p:spPr>
        <p:txBody>
          <a:bodyPr wrap="square" rtlCol="0" anchor="t">
            <a:spAutoFit/>
          </a:bodyPr>
          <a:p>
            <a:r>
              <a:rPr lang="zh-CN" altLang="en-US" sz="2400"/>
              <a:t>集合中的元素具有</a:t>
            </a:r>
            <a:r>
              <a:rPr lang="zh-CN" altLang="en-US" sz="2800">
                <a:solidFill>
                  <a:srgbClr val="FF0000"/>
                </a:solidFill>
              </a:rPr>
              <a:t>三个基本特性</a:t>
            </a:r>
            <a:r>
              <a:rPr lang="zh-CN" altLang="en-US" sz="2400"/>
              <a:t>：确定性、互异性和无序性。确定性意味着集合中的元素必须是明确的，不能模糊不清；互异性表示集合中的元素不能重复，即每个元素在集合中只能出现一次；无序性则表明集合中的元素没有特定的顺序，元素的排列顺序不会影响集合的性质。</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custDataLst>
              <p:tags r:id="rId1"/>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2"/>
            </p:custDataLst>
          </p:nvPr>
        </p:nvSpPr>
        <p:spPr>
          <a:xfrm>
            <a:off x="1168400" y="252730"/>
            <a:ext cx="2381885" cy="521970"/>
          </a:xfrm>
          <a:prstGeom prst="rect">
            <a:avLst/>
          </a:prstGeom>
          <a:noFill/>
        </p:spPr>
        <p:txBody>
          <a:bodyPr wrap="square" rtlCol="0">
            <a:spAutoFit/>
          </a:bodyPr>
          <a:p>
            <a:pPr algn="ct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生活与</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集合</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endPar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3"/>
            </p:custDataLst>
          </p:nvPr>
        </p:nvSpPr>
        <p:spPr>
          <a:xfrm>
            <a:off x="3447415" y="31051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4"/>
            </p:custDataLst>
          </p:nvPr>
        </p:nvPicPr>
        <p:blipFill>
          <a:blip r:embed="rId5"/>
          <a:stretch>
            <a:fillRect/>
          </a:stretch>
        </p:blipFill>
        <p:spPr>
          <a:xfrm>
            <a:off x="11303635" y="10795"/>
            <a:ext cx="880745" cy="863600"/>
          </a:xfrm>
          <a:prstGeom prst="rect">
            <a:avLst/>
          </a:prstGeom>
        </p:spPr>
      </p:pic>
      <p:sp>
        <p:nvSpPr>
          <p:cNvPr id="3" name="文本框 2"/>
          <p:cNvSpPr txBox="1"/>
          <p:nvPr/>
        </p:nvSpPr>
        <p:spPr>
          <a:xfrm>
            <a:off x="537210" y="1018540"/>
            <a:ext cx="11106785" cy="1691640"/>
          </a:xfrm>
          <a:prstGeom prst="rect">
            <a:avLst/>
          </a:prstGeom>
          <a:noFill/>
        </p:spPr>
        <p:txBody>
          <a:bodyPr wrap="square" rtlCol="0" anchor="t">
            <a:spAutoFit/>
          </a:bodyPr>
          <a:p>
            <a:r>
              <a:rPr lang="en-US" altLang="zh-CN" sz="3200">
                <a:solidFill>
                  <a:srgbClr val="FF0000"/>
                </a:solidFill>
              </a:rPr>
              <a:t>1</a:t>
            </a:r>
            <a:r>
              <a:rPr lang="zh-CN" altLang="en-US" sz="3200">
                <a:solidFill>
                  <a:srgbClr val="FF0000"/>
                </a:solidFill>
              </a:rPr>
              <a:t>分类与整理：</a:t>
            </a:r>
            <a:endParaRPr lang="zh-CN" altLang="en-US" sz="3200">
              <a:solidFill>
                <a:srgbClr val="FF0000"/>
              </a:solidFill>
            </a:endParaRPr>
          </a:p>
          <a:p>
            <a:r>
              <a:rPr lang="zh-CN" altLang="en-US" sz="2400"/>
              <a:t>在日常生活中，我们经常需要对物品进行分类和整理。例如，在整理衣物时，我们可以将上衣、裤子、袜子等分别放入不同的抽屉或箱子中。这里的“上衣”、“裤子”和“袜子”就可以看作是集合，而每一件具体的衣物则是集合中的元素。</a:t>
            </a:r>
            <a:endParaRPr lang="zh-CN" altLang="en-US" sz="2400"/>
          </a:p>
        </p:txBody>
      </p:sp>
      <p:sp>
        <p:nvSpPr>
          <p:cNvPr id="7" name="文本框 6"/>
          <p:cNvSpPr txBox="1"/>
          <p:nvPr/>
        </p:nvSpPr>
        <p:spPr>
          <a:xfrm>
            <a:off x="537210" y="2954020"/>
            <a:ext cx="11024235" cy="1322070"/>
          </a:xfrm>
          <a:prstGeom prst="rect">
            <a:avLst/>
          </a:prstGeom>
          <a:noFill/>
        </p:spPr>
        <p:txBody>
          <a:bodyPr wrap="square" rtlCol="0" anchor="t">
            <a:spAutoFit/>
          </a:bodyPr>
          <a:p>
            <a:pPr algn="l">
              <a:buClrTx/>
              <a:buSzTx/>
              <a:buFontTx/>
            </a:pPr>
            <a:r>
              <a:rPr lang="en-US" altLang="zh-CN" sz="3200">
                <a:solidFill>
                  <a:srgbClr val="FF0000"/>
                </a:solidFill>
              </a:rPr>
              <a:t>2购物清单：</a:t>
            </a:r>
            <a:endParaRPr lang="en-US" altLang="zh-CN" sz="3200">
              <a:solidFill>
                <a:srgbClr val="FF0000"/>
              </a:solidFill>
            </a:endParaRPr>
          </a:p>
          <a:p>
            <a:r>
              <a:rPr lang="zh-CN" altLang="en-US" sz="2400"/>
              <a:t>当我们去超市购物时，通常会列一个购物清单，上面列出了需要购买的商品。这个购物清单就是一个集合，而清单上的每一件商品都是集合中的元素。</a:t>
            </a:r>
            <a:endParaRPr lang="zh-CN" altLang="en-US" sz="2400"/>
          </a:p>
        </p:txBody>
      </p:sp>
      <p:sp>
        <p:nvSpPr>
          <p:cNvPr id="10" name="文本框 9"/>
          <p:cNvSpPr txBox="1"/>
          <p:nvPr/>
        </p:nvSpPr>
        <p:spPr>
          <a:xfrm>
            <a:off x="537210" y="4676140"/>
            <a:ext cx="10889615" cy="1691640"/>
          </a:xfrm>
          <a:prstGeom prst="rect">
            <a:avLst/>
          </a:prstGeom>
          <a:noFill/>
        </p:spPr>
        <p:txBody>
          <a:bodyPr wrap="square" rtlCol="0" anchor="t">
            <a:spAutoFit/>
          </a:bodyPr>
          <a:p>
            <a:pPr algn="l">
              <a:buClrTx/>
              <a:buSzTx/>
              <a:buFontTx/>
            </a:pPr>
            <a:r>
              <a:rPr lang="en-US" altLang="zh-CN" sz="3200">
                <a:solidFill>
                  <a:srgbClr val="FF0000"/>
                </a:solidFill>
              </a:rPr>
              <a:t>3 社交关系：</a:t>
            </a:r>
            <a:endParaRPr lang="en-US" altLang="zh-CN" sz="3200">
              <a:solidFill>
                <a:srgbClr val="FF0000"/>
              </a:solidFill>
            </a:endParaRPr>
          </a:p>
          <a:p>
            <a:r>
              <a:rPr lang="zh-CN" altLang="en-US" sz="2400"/>
              <a:t>在社交场合中，我们会遇到各种人群。例如，一个家庭可以看作是一个集合，家庭成员则是这个集合中的元素。同样，一个班级、一个公司或一个社区也可以看作是一个集合，其中的每个人则是集合中的元素。</a:t>
            </a:r>
            <a:endParaRPr lang="zh-CN"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custDataLst>
              <p:tags r:id="rId1"/>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2"/>
            </p:custDataLst>
          </p:nvPr>
        </p:nvSpPr>
        <p:spPr>
          <a:xfrm>
            <a:off x="1257300" y="252730"/>
            <a:ext cx="2339975" cy="521970"/>
          </a:xfrm>
          <a:prstGeom prst="rect">
            <a:avLst/>
          </a:prstGeom>
          <a:noFill/>
        </p:spPr>
        <p:txBody>
          <a:bodyPr wrap="square" rtlCol="0">
            <a:spAutoFit/>
          </a:bodyPr>
          <a:p>
            <a:pPr algn="ct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高中的</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集合</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endPar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3"/>
            </p:custDataLst>
          </p:nvPr>
        </p:nvSpPr>
        <p:spPr>
          <a:xfrm>
            <a:off x="3447415" y="31051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4"/>
            </p:custDataLst>
          </p:nvPr>
        </p:nvPicPr>
        <p:blipFill>
          <a:blip r:embed="rId5"/>
          <a:stretch>
            <a:fillRect/>
          </a:stretch>
        </p:blipFill>
        <p:spPr>
          <a:xfrm>
            <a:off x="11303635" y="10795"/>
            <a:ext cx="880745" cy="863600"/>
          </a:xfrm>
          <a:prstGeom prst="rect">
            <a:avLst/>
          </a:prstGeom>
        </p:spPr>
      </p:pic>
      <p:sp>
        <p:nvSpPr>
          <p:cNvPr id="9" name="文本框 8"/>
          <p:cNvSpPr txBox="1"/>
          <p:nvPr/>
        </p:nvSpPr>
        <p:spPr>
          <a:xfrm>
            <a:off x="856615" y="1058545"/>
            <a:ext cx="7927340" cy="829945"/>
          </a:xfrm>
          <a:prstGeom prst="rect">
            <a:avLst/>
          </a:prstGeom>
          <a:noFill/>
        </p:spPr>
        <p:txBody>
          <a:bodyPr wrap="square" rtlCol="0" anchor="t">
            <a:spAutoFit/>
          </a:bodyPr>
          <a:p>
            <a:r>
              <a:rPr lang="zh-CN" altLang="en-US" sz="2400"/>
              <a:t>集合在高中数学中是一个非常重要的概念，它不仅是数学基础知识的重要组成部分，也是解决数学问题的重要工具。</a:t>
            </a:r>
            <a:endParaRPr lang="zh-CN" altLang="en-US" sz="2400"/>
          </a:p>
        </p:txBody>
      </p:sp>
      <p:sp>
        <p:nvSpPr>
          <p:cNvPr id="10" name="文本框 9"/>
          <p:cNvSpPr txBox="1"/>
          <p:nvPr/>
        </p:nvSpPr>
        <p:spPr>
          <a:xfrm>
            <a:off x="1041400" y="2082165"/>
            <a:ext cx="10108565" cy="1260475"/>
          </a:xfrm>
          <a:prstGeom prst="rect">
            <a:avLst/>
          </a:prstGeom>
          <a:noFill/>
        </p:spPr>
        <p:txBody>
          <a:bodyPr wrap="square" rtlCol="0" anchor="t">
            <a:spAutoFit/>
          </a:bodyPr>
          <a:p>
            <a:r>
              <a:rPr lang="zh-CN" altLang="en-US" sz="2800" b="1">
                <a:solidFill>
                  <a:srgbClr val="FF0000"/>
                </a:solidFill>
              </a:rPr>
              <a:t>解决数学问题：</a:t>
            </a:r>
            <a:r>
              <a:rPr lang="zh-CN" altLang="en-US" sz="2400"/>
              <a:t>集合的知识经常用于解决各种数学问题。例如，在求解不等式或方程时，可能需要将解集表示为集合的形式；在证明或推导某些数学结论时，也可能需要利用集合的性质或运算。</a:t>
            </a:r>
            <a:endParaRPr lang="zh-CN" altLang="en-US" sz="2400"/>
          </a:p>
        </p:txBody>
      </p:sp>
      <p:sp>
        <p:nvSpPr>
          <p:cNvPr id="11" name="文本框 10"/>
          <p:cNvSpPr txBox="1"/>
          <p:nvPr/>
        </p:nvSpPr>
        <p:spPr>
          <a:xfrm>
            <a:off x="992505" y="4878705"/>
            <a:ext cx="9892665" cy="1568450"/>
          </a:xfrm>
          <a:prstGeom prst="rect">
            <a:avLst/>
          </a:prstGeom>
          <a:noFill/>
        </p:spPr>
        <p:txBody>
          <a:bodyPr wrap="square" rtlCol="0" anchor="t">
            <a:spAutoFit/>
          </a:bodyPr>
          <a:p>
            <a:r>
              <a:rPr lang="zh-CN" altLang="en-US" sz="2400" b="1">
                <a:solidFill>
                  <a:srgbClr val="FF0000"/>
                </a:solidFill>
                <a:sym typeface="+mn-ea"/>
              </a:rPr>
              <a:t>高考必考内容：</a:t>
            </a:r>
            <a:r>
              <a:rPr lang="zh-CN" altLang="en-US" sz="2400">
                <a:sym typeface="+mn-ea"/>
              </a:rPr>
              <a:t>集合是历年高考数学必考的知识点之一。高考中对于集合的考查主要集中在基本概念和运算，以及集合语言和集合思想的应用上。考题多为较容易的选择、填空题，但也需要考生熟练掌握集合的相关知识和运算方法。</a:t>
            </a:r>
            <a:endParaRPr lang="zh-CN" altLang="en-US" sz="2400">
              <a:sym typeface="+mn-ea"/>
            </a:endParaRPr>
          </a:p>
        </p:txBody>
      </p:sp>
      <p:sp>
        <p:nvSpPr>
          <p:cNvPr id="12" name="文本框 11"/>
          <p:cNvSpPr txBox="1"/>
          <p:nvPr/>
        </p:nvSpPr>
        <p:spPr>
          <a:xfrm>
            <a:off x="992505" y="3413125"/>
            <a:ext cx="8801735" cy="1260475"/>
          </a:xfrm>
          <a:prstGeom prst="rect">
            <a:avLst/>
          </a:prstGeom>
          <a:noFill/>
        </p:spPr>
        <p:txBody>
          <a:bodyPr wrap="square" rtlCol="0" anchor="t">
            <a:spAutoFit/>
          </a:bodyPr>
          <a:p>
            <a:r>
              <a:rPr lang="zh-CN" altLang="en-US" sz="2800">
                <a:solidFill>
                  <a:srgbClr val="FF0000"/>
                </a:solidFill>
                <a:sym typeface="+mn-ea"/>
              </a:rPr>
              <a:t>与其他数学知识的联系：</a:t>
            </a:r>
            <a:r>
              <a:rPr lang="zh-CN" altLang="en-US" sz="2400">
                <a:sym typeface="+mn-ea"/>
              </a:rPr>
              <a:t>集合是高中数学中许多其他知识点的基础，如函数、数列、向量等都与集合有紧密的联系。通过集合的概念，可以更好地理解和解决这些领域的问题。</a:t>
            </a:r>
            <a:endParaRPr lang="zh-CN" altLang="en-US" sz="240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custDataLst>
              <p:tags r:id="rId1"/>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2"/>
            </p:custDataLst>
          </p:nvPr>
        </p:nvSpPr>
        <p:spPr>
          <a:xfrm>
            <a:off x="1168400" y="252730"/>
            <a:ext cx="2597785" cy="521970"/>
          </a:xfrm>
          <a:prstGeom prst="rect">
            <a:avLst/>
          </a:prstGeom>
          <a:noFill/>
        </p:spPr>
        <p:txBody>
          <a:bodyPr wrap="square" rtlCol="0">
            <a:spAutoFit/>
          </a:bodyPr>
          <a:p>
            <a:pPr algn="ct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3.</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集合</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那些事</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endPar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3"/>
            </p:custDataLst>
          </p:nvPr>
        </p:nvSpPr>
        <p:spPr>
          <a:xfrm>
            <a:off x="3726815" y="31051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4"/>
            </p:custDataLst>
          </p:nvPr>
        </p:nvPicPr>
        <p:blipFill>
          <a:blip r:embed="rId5"/>
          <a:stretch>
            <a:fillRect/>
          </a:stretch>
        </p:blipFill>
        <p:spPr>
          <a:xfrm>
            <a:off x="11303635" y="10795"/>
            <a:ext cx="880745" cy="863600"/>
          </a:xfrm>
          <a:prstGeom prst="rect">
            <a:avLst/>
          </a:prstGeom>
        </p:spPr>
      </p:pic>
      <p:sp>
        <p:nvSpPr>
          <p:cNvPr id="10" name="文本框 9"/>
          <p:cNvSpPr txBox="1"/>
          <p:nvPr/>
        </p:nvSpPr>
        <p:spPr>
          <a:xfrm>
            <a:off x="670560" y="976630"/>
            <a:ext cx="9871075" cy="521970"/>
          </a:xfrm>
          <a:prstGeom prst="rect">
            <a:avLst/>
          </a:prstGeom>
          <a:noFill/>
        </p:spPr>
        <p:txBody>
          <a:bodyPr wrap="square" rtlCol="0" anchor="t">
            <a:spAutoFit/>
          </a:bodyPr>
          <a:p>
            <a:r>
              <a:rPr lang="zh-CN" altLang="en-US" sz="2800"/>
              <a:t>集合的</a:t>
            </a:r>
            <a:r>
              <a:rPr lang="zh-CN" altLang="en-US" sz="2800" b="1">
                <a:solidFill>
                  <a:srgbClr val="FF0000"/>
                </a:solidFill>
              </a:rPr>
              <a:t>表示方法</a:t>
            </a:r>
            <a:r>
              <a:rPr lang="zh-CN" altLang="en-US" sz="2800"/>
              <a:t>：可以用列举法或描述法来表示。</a:t>
            </a:r>
            <a:endParaRPr lang="zh-CN" altLang="en-US" sz="2800"/>
          </a:p>
        </p:txBody>
      </p:sp>
      <p:sp>
        <p:nvSpPr>
          <p:cNvPr id="2" name="文本框 1"/>
          <p:cNvSpPr txBox="1"/>
          <p:nvPr/>
        </p:nvSpPr>
        <p:spPr>
          <a:xfrm>
            <a:off x="670560" y="3272790"/>
            <a:ext cx="8133080" cy="646430"/>
          </a:xfrm>
          <a:prstGeom prst="rect">
            <a:avLst/>
          </a:prstGeom>
          <a:noFill/>
        </p:spPr>
        <p:txBody>
          <a:bodyPr wrap="square" rtlCol="0" anchor="t">
            <a:noAutofit/>
          </a:bodyPr>
          <a:p>
            <a:pPr>
              <a:buClrTx/>
              <a:buSzTx/>
              <a:buFontTx/>
            </a:pPr>
            <a:r>
              <a:rPr lang="zh-CN" altLang="en-US" sz="2800">
                <a:sym typeface="+mn-ea"/>
              </a:rPr>
              <a:t>集合的</a:t>
            </a:r>
            <a:r>
              <a:rPr lang="zh-CN" altLang="en-US" sz="2800" b="1">
                <a:solidFill>
                  <a:srgbClr val="FF0000"/>
                </a:solidFill>
                <a:sym typeface="+mn-ea"/>
              </a:rPr>
              <a:t>运算：</a:t>
            </a:r>
            <a:r>
              <a:rPr lang="zh-CN" altLang="en-US" sz="2800">
                <a:sym typeface="+mn-ea"/>
              </a:rPr>
              <a:t>集合的并集、交集、</a:t>
            </a:r>
            <a:r>
              <a:rPr lang="zh-CN" altLang="en-US" sz="2800">
                <a:sym typeface="+mn-ea"/>
              </a:rPr>
              <a:t>补</a:t>
            </a:r>
            <a:r>
              <a:rPr lang="zh-CN" altLang="en-US" sz="2800">
                <a:sym typeface="+mn-ea"/>
              </a:rPr>
              <a:t>集</a:t>
            </a:r>
            <a:endParaRPr lang="zh-CN" altLang="en-US" sz="2800">
              <a:sym typeface="+mn-ea"/>
            </a:endParaRPr>
          </a:p>
        </p:txBody>
      </p:sp>
      <p:sp>
        <p:nvSpPr>
          <p:cNvPr id="3" name="文本框 2"/>
          <p:cNvSpPr txBox="1"/>
          <p:nvPr/>
        </p:nvSpPr>
        <p:spPr>
          <a:xfrm>
            <a:off x="742950" y="1896110"/>
            <a:ext cx="8133080" cy="646430"/>
          </a:xfrm>
          <a:prstGeom prst="rect">
            <a:avLst/>
          </a:prstGeom>
          <a:noFill/>
        </p:spPr>
        <p:txBody>
          <a:bodyPr wrap="square" rtlCol="0" anchor="t">
            <a:noAutofit/>
          </a:bodyPr>
          <a:p>
            <a:pPr>
              <a:buClrTx/>
              <a:buSzTx/>
              <a:buFontTx/>
            </a:pPr>
            <a:r>
              <a:rPr lang="zh-CN" altLang="en-US" sz="2800">
                <a:sym typeface="+mn-ea"/>
              </a:rPr>
              <a:t>集合的</a:t>
            </a:r>
            <a:r>
              <a:rPr lang="zh-CN" altLang="en-US" sz="2800" b="1">
                <a:solidFill>
                  <a:srgbClr val="FF0000"/>
                </a:solidFill>
                <a:sym typeface="+mn-ea"/>
              </a:rPr>
              <a:t>关系：</a:t>
            </a:r>
            <a:r>
              <a:rPr lang="zh-CN" altLang="en-US" sz="2800">
                <a:sym typeface="+mn-ea"/>
              </a:rPr>
              <a:t>相等、包含关系等；</a:t>
            </a:r>
            <a:endParaRPr lang="zh-CN" altLang="en-US" sz="2800">
              <a:sym typeface="+mn-ea"/>
            </a:endParaRPr>
          </a:p>
        </p:txBody>
      </p:sp>
      <p:pic>
        <p:nvPicPr>
          <p:cNvPr id="100" name="图片 99"/>
          <p:cNvPicPr/>
          <p:nvPr/>
        </p:nvPicPr>
        <p:blipFill>
          <a:blip r:embed="rId6"/>
          <a:stretch>
            <a:fillRect/>
          </a:stretch>
        </p:blipFill>
        <p:spPr>
          <a:xfrm>
            <a:off x="7618730" y="3806190"/>
            <a:ext cx="3764915" cy="204406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custDataLst>
              <p:tags r:id="rId1"/>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2"/>
            </p:custDataLst>
          </p:nvPr>
        </p:nvSpPr>
        <p:spPr>
          <a:xfrm>
            <a:off x="1168400" y="252730"/>
            <a:ext cx="2381885" cy="521970"/>
          </a:xfrm>
          <a:prstGeom prst="rect">
            <a:avLst/>
          </a:prstGeom>
          <a:noFill/>
        </p:spPr>
        <p:txBody>
          <a:bodyPr wrap="square" rtlCol="0">
            <a:spAutoFit/>
          </a:bodyPr>
          <a:p>
            <a:pPr algn="ct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集合的</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那些事</a:t>
            </a:r>
            <a:endPar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3"/>
            </p:custDataLst>
          </p:nvPr>
        </p:nvSpPr>
        <p:spPr>
          <a:xfrm>
            <a:off x="3447415" y="245110"/>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4"/>
            </p:custDataLst>
          </p:nvPr>
        </p:nvPicPr>
        <p:blipFill>
          <a:blip r:embed="rId5"/>
          <a:stretch>
            <a:fillRect/>
          </a:stretch>
        </p:blipFill>
        <p:spPr>
          <a:xfrm>
            <a:off x="11303635" y="10795"/>
            <a:ext cx="880745" cy="863600"/>
          </a:xfrm>
          <a:prstGeom prst="rect">
            <a:avLst/>
          </a:prstGeom>
        </p:spPr>
      </p:pic>
      <p:pic>
        <p:nvPicPr>
          <p:cNvPr id="2" name="图片 1"/>
          <p:cNvPicPr>
            <a:picLocks noChangeAspect="1"/>
          </p:cNvPicPr>
          <p:nvPr/>
        </p:nvPicPr>
        <p:blipFill>
          <a:blip r:embed="rId6"/>
          <a:stretch>
            <a:fillRect/>
          </a:stretch>
        </p:blipFill>
        <p:spPr>
          <a:xfrm>
            <a:off x="607695" y="935990"/>
            <a:ext cx="10322560" cy="1637665"/>
          </a:xfrm>
          <a:prstGeom prst="rect">
            <a:avLst/>
          </a:prstGeom>
        </p:spPr>
      </p:pic>
      <p:sp>
        <p:nvSpPr>
          <p:cNvPr id="3" name="矩形 2"/>
          <p:cNvSpPr/>
          <p:nvPr/>
        </p:nvSpPr>
        <p:spPr>
          <a:xfrm>
            <a:off x="9482138" y="774700"/>
            <a:ext cx="615315" cy="922020"/>
          </a:xfrm>
          <a:prstGeom prst="rect">
            <a:avLst/>
          </a:prstGeom>
          <a:noFill/>
          <a:ln>
            <a:noFill/>
          </a:ln>
        </p:spPr>
        <p:txBody>
          <a:bodyPr wrap="none" rtlCol="0" anchor="t">
            <a:spAutoFit/>
          </a:bodyPr>
          <a:p>
            <a:pPr algn="ctr"/>
            <a:r>
              <a:rPr lang="en-US" altLang="zh-CN" sz="5400" b="1">
                <a:ln w="22225">
                  <a:solidFill>
                    <a:schemeClr val="accent2"/>
                  </a:solidFill>
                  <a:prstDash val="solid"/>
                </a:ln>
                <a:solidFill>
                  <a:schemeClr val="accent2">
                    <a:lumMod val="40000"/>
                    <a:lumOff val="60000"/>
                  </a:schemeClr>
                </a:solidFill>
                <a:effectLst/>
              </a:rPr>
              <a:t>D</a:t>
            </a:r>
            <a:endParaRPr lang="en-US" altLang="zh-CN" sz="5400" b="1">
              <a:ln w="22225">
                <a:solidFill>
                  <a:schemeClr val="accent2"/>
                </a:solidFill>
                <a:prstDash val="solid"/>
              </a:ln>
              <a:solidFill>
                <a:schemeClr val="accent2">
                  <a:lumMod val="40000"/>
                  <a:lumOff val="60000"/>
                </a:schemeClr>
              </a:solidFill>
              <a:effectLst/>
            </a:endParaRPr>
          </a:p>
        </p:txBody>
      </p:sp>
      <p:pic>
        <p:nvPicPr>
          <p:cNvPr id="7" name="图片 6"/>
          <p:cNvPicPr>
            <a:picLocks noChangeAspect="1"/>
          </p:cNvPicPr>
          <p:nvPr/>
        </p:nvPicPr>
        <p:blipFill>
          <a:blip r:embed="rId7"/>
          <a:srcRect r="10431"/>
          <a:stretch>
            <a:fillRect/>
          </a:stretch>
        </p:blipFill>
        <p:spPr>
          <a:xfrm>
            <a:off x="528955" y="2804795"/>
            <a:ext cx="10401300" cy="1539240"/>
          </a:xfrm>
          <a:prstGeom prst="rect">
            <a:avLst/>
          </a:prstGeom>
        </p:spPr>
      </p:pic>
      <p:sp>
        <p:nvSpPr>
          <p:cNvPr id="8" name="矩形 7"/>
          <p:cNvSpPr/>
          <p:nvPr/>
        </p:nvSpPr>
        <p:spPr>
          <a:xfrm>
            <a:off x="9977756" y="2734945"/>
            <a:ext cx="598170" cy="922020"/>
          </a:xfrm>
          <a:prstGeom prst="rect">
            <a:avLst/>
          </a:prstGeom>
          <a:noFill/>
          <a:ln>
            <a:noFill/>
          </a:ln>
        </p:spPr>
        <p:txBody>
          <a:bodyPr wrap="none" rtlCol="0" anchor="t">
            <a:spAutoFit/>
          </a:bodyPr>
          <a:p>
            <a:pPr algn="ctr"/>
            <a:r>
              <a:rPr lang="en-US" altLang="zh-CN" sz="5400" b="1">
                <a:ln w="22225">
                  <a:solidFill>
                    <a:schemeClr val="accent2"/>
                  </a:solidFill>
                  <a:prstDash val="solid"/>
                </a:ln>
                <a:solidFill>
                  <a:schemeClr val="accent2">
                    <a:lumMod val="40000"/>
                    <a:lumOff val="60000"/>
                  </a:schemeClr>
                </a:solidFill>
                <a:effectLst/>
              </a:rPr>
              <a:t>A</a:t>
            </a:r>
            <a:endParaRPr lang="en-US" altLang="zh-CN" sz="5400" b="1">
              <a:ln w="22225">
                <a:solidFill>
                  <a:schemeClr val="accent2"/>
                </a:solidFill>
                <a:prstDash val="solid"/>
              </a:ln>
              <a:solidFill>
                <a:schemeClr val="accent2">
                  <a:lumMod val="40000"/>
                  <a:lumOff val="60000"/>
                </a:schemeClr>
              </a:solidFill>
              <a:effectLst/>
            </a:endParaRPr>
          </a:p>
        </p:txBody>
      </p:sp>
      <p:pic>
        <p:nvPicPr>
          <p:cNvPr id="9" name="图片 8"/>
          <p:cNvPicPr>
            <a:picLocks noChangeAspect="1"/>
          </p:cNvPicPr>
          <p:nvPr/>
        </p:nvPicPr>
        <p:blipFill>
          <a:blip r:embed="rId8"/>
          <a:stretch>
            <a:fillRect/>
          </a:stretch>
        </p:blipFill>
        <p:spPr>
          <a:xfrm>
            <a:off x="607695" y="4575175"/>
            <a:ext cx="10885170" cy="1082040"/>
          </a:xfrm>
          <a:prstGeom prst="rect">
            <a:avLst/>
          </a:prstGeom>
        </p:spPr>
      </p:pic>
      <p:sp>
        <p:nvSpPr>
          <p:cNvPr id="10" name="矩形 9"/>
          <p:cNvSpPr/>
          <p:nvPr/>
        </p:nvSpPr>
        <p:spPr>
          <a:xfrm>
            <a:off x="10113329" y="4344035"/>
            <a:ext cx="567055" cy="922020"/>
          </a:xfrm>
          <a:prstGeom prst="rect">
            <a:avLst/>
          </a:prstGeom>
          <a:noFill/>
          <a:ln>
            <a:noFill/>
          </a:ln>
        </p:spPr>
        <p:txBody>
          <a:bodyPr wrap="none" rtlCol="0" anchor="t">
            <a:spAutoFit/>
          </a:bodyPr>
          <a:p>
            <a:pPr algn="ctr"/>
            <a:r>
              <a:rPr lang="en-US" altLang="zh-CN" sz="5400" b="1">
                <a:ln w="22225">
                  <a:solidFill>
                    <a:schemeClr val="accent2"/>
                  </a:solidFill>
                  <a:prstDash val="solid"/>
                </a:ln>
                <a:solidFill>
                  <a:schemeClr val="accent2">
                    <a:lumMod val="40000"/>
                    <a:lumOff val="60000"/>
                  </a:schemeClr>
                </a:solidFill>
                <a:effectLst/>
              </a:rPr>
              <a:t>B</a:t>
            </a:r>
            <a:endParaRPr lang="en-US" altLang="zh-CN" sz="5400" b="1">
              <a:ln w="22225">
                <a:solidFill>
                  <a:schemeClr val="accent2"/>
                </a:solidFill>
                <a:prstDash val="solid"/>
              </a:ln>
              <a:solidFill>
                <a:schemeClr val="accent2">
                  <a:lumMod val="40000"/>
                  <a:lumOff val="60000"/>
                </a:schemeClr>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8" grpId="0"/>
      <p:bldP spid="8" grpId="1"/>
      <p:bldP spid="10" grpId="0"/>
      <p:bldP spid="10"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612140" y="501650"/>
            <a:ext cx="10659745" cy="2012315"/>
          </a:xfrm>
          <a:prstGeom prst="rect">
            <a:avLst/>
          </a:prstGeom>
        </p:spPr>
      </p:pic>
      <p:sp>
        <p:nvSpPr>
          <p:cNvPr id="8" name="矩形 7"/>
          <p:cNvSpPr/>
          <p:nvPr/>
        </p:nvSpPr>
        <p:spPr>
          <a:xfrm>
            <a:off x="2461896" y="1181100"/>
            <a:ext cx="546100" cy="922020"/>
          </a:xfrm>
          <a:prstGeom prst="rect">
            <a:avLst/>
          </a:prstGeom>
          <a:noFill/>
          <a:ln>
            <a:noFill/>
          </a:ln>
        </p:spPr>
        <p:txBody>
          <a:bodyPr wrap="none" rtlCol="0" anchor="t">
            <a:spAutoFit/>
          </a:bodyPr>
          <a:p>
            <a:pPr algn="ctr"/>
            <a:r>
              <a:rPr lang="en-US" altLang="zh-CN" sz="5400" b="1">
                <a:ln w="22225">
                  <a:solidFill>
                    <a:schemeClr val="accent2"/>
                  </a:solidFill>
                  <a:prstDash val="solid"/>
                </a:ln>
                <a:solidFill>
                  <a:schemeClr val="accent2">
                    <a:lumMod val="40000"/>
                    <a:lumOff val="60000"/>
                  </a:schemeClr>
                </a:solidFill>
                <a:effectLst/>
              </a:rPr>
              <a:t>C</a:t>
            </a:r>
            <a:endParaRPr lang="en-US" altLang="zh-CN" sz="5400" b="1">
              <a:ln w="22225">
                <a:solidFill>
                  <a:schemeClr val="accent2"/>
                </a:solidFill>
                <a:prstDash val="solid"/>
              </a:ln>
              <a:solidFill>
                <a:schemeClr val="accent2">
                  <a:lumMod val="40000"/>
                  <a:lumOff val="60000"/>
                </a:schemeClr>
              </a:solidFill>
              <a:effectLst/>
            </a:endParaRPr>
          </a:p>
        </p:txBody>
      </p:sp>
      <p:pic>
        <p:nvPicPr>
          <p:cNvPr id="10" name="图片 9"/>
          <p:cNvPicPr>
            <a:picLocks noChangeAspect="1"/>
          </p:cNvPicPr>
          <p:nvPr/>
        </p:nvPicPr>
        <p:blipFill>
          <a:blip r:embed="rId2"/>
          <a:stretch>
            <a:fillRect/>
          </a:stretch>
        </p:blipFill>
        <p:spPr>
          <a:xfrm>
            <a:off x="499110" y="2513965"/>
            <a:ext cx="10687050" cy="2017395"/>
          </a:xfrm>
          <a:prstGeom prst="rect">
            <a:avLst/>
          </a:prstGeom>
        </p:spPr>
      </p:pic>
      <p:pic>
        <p:nvPicPr>
          <p:cNvPr id="12" name="图片 11"/>
          <p:cNvPicPr>
            <a:picLocks noChangeAspect="1"/>
          </p:cNvPicPr>
          <p:nvPr/>
        </p:nvPicPr>
        <p:blipFill>
          <a:blip r:embed="rId3"/>
          <a:stretch>
            <a:fillRect/>
          </a:stretch>
        </p:blipFill>
        <p:spPr>
          <a:xfrm>
            <a:off x="499110" y="4825365"/>
            <a:ext cx="10436860" cy="1188085"/>
          </a:xfrm>
          <a:prstGeom prst="rect">
            <a:avLst/>
          </a:prstGeom>
        </p:spPr>
      </p:pic>
      <p:sp>
        <p:nvSpPr>
          <p:cNvPr id="13" name="矩形 12"/>
          <p:cNvSpPr/>
          <p:nvPr/>
        </p:nvSpPr>
        <p:spPr>
          <a:xfrm>
            <a:off x="736601" y="3129280"/>
            <a:ext cx="546100" cy="922020"/>
          </a:xfrm>
          <a:prstGeom prst="rect">
            <a:avLst/>
          </a:prstGeom>
          <a:noFill/>
          <a:ln>
            <a:noFill/>
          </a:ln>
        </p:spPr>
        <p:txBody>
          <a:bodyPr wrap="none" rtlCol="0" anchor="t">
            <a:spAutoFit/>
          </a:bodyPr>
          <a:p>
            <a:pPr algn="ctr"/>
            <a:r>
              <a:rPr lang="en-US" altLang="zh-CN" sz="5400" b="1">
                <a:ln w="22225">
                  <a:solidFill>
                    <a:schemeClr val="accent2"/>
                  </a:solidFill>
                  <a:prstDash val="solid"/>
                </a:ln>
                <a:solidFill>
                  <a:schemeClr val="accent2">
                    <a:lumMod val="40000"/>
                    <a:lumOff val="60000"/>
                  </a:schemeClr>
                </a:solidFill>
                <a:effectLst/>
              </a:rPr>
              <a:t>C</a:t>
            </a:r>
            <a:endParaRPr lang="en-US" altLang="zh-CN" sz="5400" b="1">
              <a:ln w="22225">
                <a:solidFill>
                  <a:schemeClr val="accent2"/>
                </a:solidFill>
                <a:prstDash val="solid"/>
              </a:ln>
              <a:solidFill>
                <a:schemeClr val="accent2">
                  <a:lumMod val="40000"/>
                  <a:lumOff val="60000"/>
                </a:schemeClr>
              </a:solidFill>
              <a:effectLst/>
            </a:endParaRPr>
          </a:p>
        </p:txBody>
      </p:sp>
      <p:sp>
        <p:nvSpPr>
          <p:cNvPr id="14" name="矩形 13"/>
          <p:cNvSpPr/>
          <p:nvPr/>
        </p:nvSpPr>
        <p:spPr>
          <a:xfrm>
            <a:off x="10232709" y="4610735"/>
            <a:ext cx="567055" cy="922020"/>
          </a:xfrm>
          <a:prstGeom prst="rect">
            <a:avLst/>
          </a:prstGeom>
          <a:noFill/>
          <a:ln>
            <a:noFill/>
          </a:ln>
        </p:spPr>
        <p:txBody>
          <a:bodyPr wrap="none" rtlCol="0" anchor="t">
            <a:spAutoFit/>
          </a:bodyPr>
          <a:p>
            <a:pPr algn="ctr"/>
            <a:r>
              <a:rPr lang="en-US" altLang="zh-CN" sz="5400" b="1">
                <a:ln w="22225">
                  <a:solidFill>
                    <a:schemeClr val="accent2"/>
                  </a:solidFill>
                  <a:prstDash val="solid"/>
                </a:ln>
                <a:solidFill>
                  <a:schemeClr val="accent2">
                    <a:lumMod val="40000"/>
                    <a:lumOff val="60000"/>
                  </a:schemeClr>
                </a:solidFill>
                <a:effectLst/>
              </a:rPr>
              <a:t>B</a:t>
            </a:r>
            <a:endParaRPr lang="en-US" altLang="zh-CN" sz="5400" b="1">
              <a:ln w="22225">
                <a:solidFill>
                  <a:schemeClr val="accent2"/>
                </a:solidFill>
                <a:prstDash val="solid"/>
              </a:ln>
              <a:solidFill>
                <a:schemeClr val="accent2">
                  <a:lumMod val="40000"/>
                  <a:lumOff val="60000"/>
                </a:schemeClr>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3" grpId="0"/>
      <p:bldP spid="13" grpId="1"/>
      <p:bldP spid="14" grpId="0"/>
      <p:bldP spid="1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custDataLst>
              <p:tags r:id="rId1"/>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2"/>
            </p:custDataLst>
          </p:nvPr>
        </p:nvSpPr>
        <p:spPr>
          <a:xfrm>
            <a:off x="1168400" y="252730"/>
            <a:ext cx="2381885" cy="521970"/>
          </a:xfrm>
          <a:prstGeom prst="rect">
            <a:avLst/>
          </a:prstGeom>
          <a:noFill/>
        </p:spPr>
        <p:txBody>
          <a:bodyPr wrap="square" rtlCol="0">
            <a:spAutoFit/>
          </a:bodyPr>
          <a:p>
            <a:pPr algn="ct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容斥原理</a:t>
            </a:r>
            <a:endPar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3"/>
            </p:custDataLst>
          </p:nvPr>
        </p:nvSpPr>
        <p:spPr>
          <a:xfrm>
            <a:off x="3447415" y="31051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4"/>
            </p:custDataLst>
          </p:nvPr>
        </p:nvPicPr>
        <p:blipFill>
          <a:blip r:embed="rId5"/>
          <a:stretch>
            <a:fillRect/>
          </a:stretch>
        </p:blipFill>
        <p:spPr>
          <a:xfrm>
            <a:off x="11303635" y="10795"/>
            <a:ext cx="880745" cy="863600"/>
          </a:xfrm>
          <a:prstGeom prst="rect">
            <a:avLst/>
          </a:prstGeom>
        </p:spPr>
      </p:pic>
      <p:sp>
        <p:nvSpPr>
          <p:cNvPr id="2" name="文本框 1"/>
          <p:cNvSpPr txBox="1"/>
          <p:nvPr/>
        </p:nvSpPr>
        <p:spPr>
          <a:xfrm>
            <a:off x="692150" y="774700"/>
            <a:ext cx="6949440" cy="583565"/>
          </a:xfrm>
          <a:prstGeom prst="rect">
            <a:avLst/>
          </a:prstGeom>
          <a:solidFill>
            <a:schemeClr val="accent2">
              <a:lumMod val="20000"/>
              <a:lumOff val="80000"/>
            </a:schemeClr>
          </a:solidFill>
        </p:spPr>
        <p:txBody>
          <a:bodyPr wrap="square" rtlCol="0" anchor="t">
            <a:spAutoFit/>
          </a:bodyPr>
          <a:p>
            <a:r>
              <a:rPr lang="zh-CN" altLang="en-US" sz="3200"/>
              <a:t>card(A∪B)=card(A)+card(B)-card(A∩B)</a:t>
            </a:r>
            <a:endParaRPr lang="zh-CN" altLang="en-US" sz="3200"/>
          </a:p>
        </p:txBody>
      </p:sp>
      <p:sp>
        <p:nvSpPr>
          <p:cNvPr id="3" name="文本框 2"/>
          <p:cNvSpPr txBox="1"/>
          <p:nvPr/>
        </p:nvSpPr>
        <p:spPr>
          <a:xfrm>
            <a:off x="692150" y="3128010"/>
            <a:ext cx="9253855" cy="1198880"/>
          </a:xfrm>
          <a:prstGeom prst="rect">
            <a:avLst/>
          </a:prstGeom>
          <a:noFill/>
        </p:spPr>
        <p:txBody>
          <a:bodyPr wrap="square" rtlCol="0" anchor="t">
            <a:spAutoFit/>
            <a:scene3d>
              <a:camera prst="orthographicFront"/>
              <a:lightRig rig="threePt" dir="t"/>
            </a:scene3d>
          </a:bodyPr>
          <a:p>
            <a:r>
              <a:rPr lang="zh-CN" altLang="en-US" sz="2400">
                <a:ln/>
                <a:solidFill>
                  <a:schemeClr val="accent1"/>
                </a:solidFill>
                <a:effectLst>
                  <a:outerShdw blurRad="38100" dist="25400" dir="5400000" algn="ctr" rotWithShape="0">
                    <a:srgbClr val="6E747A">
                      <a:alpha val="43000"/>
                    </a:srgbClr>
                  </a:outerShdw>
                </a:effectLst>
              </a:rPr>
              <a:t>假设某班级有 30 名学生，其中有 18 名学生参加了数学竞赛，15 名学生参加了物理竞赛，并且知道有 7 名学生同时参加了数学和物理竞赛。那么，至少参加了一个竞赛的学生有多少人？</a:t>
            </a:r>
            <a:endParaRPr lang="zh-CN" altLang="en-US" sz="2400">
              <a:ln/>
              <a:solidFill>
                <a:schemeClr val="accent1"/>
              </a:solidFill>
              <a:effectLst>
                <a:outerShdw blurRad="38100" dist="25400" dir="5400000" algn="ctr" rotWithShape="0">
                  <a:srgbClr val="6E747A">
                    <a:alpha val="43000"/>
                  </a:srgbClr>
                </a:outerShdw>
              </a:effectLst>
            </a:endParaRPr>
          </a:p>
        </p:txBody>
      </p:sp>
      <p:sp>
        <p:nvSpPr>
          <p:cNvPr id="7" name="文本框 6"/>
          <p:cNvSpPr txBox="1"/>
          <p:nvPr/>
        </p:nvSpPr>
        <p:spPr>
          <a:xfrm>
            <a:off x="8037830" y="774700"/>
            <a:ext cx="4008120" cy="591820"/>
          </a:xfrm>
          <a:prstGeom prst="rect">
            <a:avLst/>
          </a:prstGeom>
          <a:solidFill>
            <a:schemeClr val="accent2">
              <a:lumMod val="20000"/>
              <a:lumOff val="80000"/>
            </a:schemeClr>
          </a:solidFill>
        </p:spPr>
        <p:txBody>
          <a:bodyPr wrap="square" rtlCol="0" anchor="t">
            <a:noAutofit/>
          </a:bodyPr>
          <a:p>
            <a:pPr lvl="0" algn="l">
              <a:buClrTx/>
              <a:buSzTx/>
              <a:buFontTx/>
            </a:pPr>
            <a:r>
              <a:rPr lang="zh-CN" altLang="en-US" sz="3200">
                <a:sym typeface="+mn-ea"/>
              </a:rPr>
              <a:t>card(A∪B∪C)=</a:t>
            </a:r>
            <a:r>
              <a:rPr lang="zh-CN" altLang="en-US" sz="3200">
                <a:sym typeface="+mn-ea"/>
              </a:rPr>
              <a:t>？</a:t>
            </a:r>
            <a:endParaRPr lang="zh-CN" altLang="en-US" sz="3200">
              <a:sym typeface="+mn-ea"/>
            </a:endParaRPr>
          </a:p>
          <a:p>
            <a:pPr lvl="0" algn="l">
              <a:buClrTx/>
              <a:buSzTx/>
              <a:buFontTx/>
            </a:pPr>
            <a:endParaRPr lang="zh-CN" altLang="en-US" sz="3200">
              <a:sym typeface="+mn-ea"/>
            </a:endParaRPr>
          </a:p>
        </p:txBody>
      </p:sp>
      <p:sp>
        <p:nvSpPr>
          <p:cNvPr id="8" name="文本框 7"/>
          <p:cNvSpPr txBox="1"/>
          <p:nvPr/>
        </p:nvSpPr>
        <p:spPr>
          <a:xfrm>
            <a:off x="692150" y="1840230"/>
            <a:ext cx="7951470" cy="953135"/>
          </a:xfrm>
          <a:prstGeom prst="rect">
            <a:avLst/>
          </a:prstGeom>
          <a:solidFill>
            <a:schemeClr val="accent2">
              <a:lumMod val="20000"/>
              <a:lumOff val="80000"/>
            </a:schemeClr>
          </a:solidFill>
        </p:spPr>
        <p:txBody>
          <a:bodyPr wrap="square" rtlCol="0" anchor="t">
            <a:spAutoFit/>
          </a:bodyPr>
          <a:p>
            <a:pPr algn="l">
              <a:buClrTx/>
              <a:buSzTx/>
              <a:buFontTx/>
            </a:pPr>
            <a:r>
              <a:rPr lang="zh-CN" altLang="en-US" sz="2800">
                <a:sym typeface="+mn-ea"/>
              </a:rPr>
              <a:t>card(A∪B∪C)=</a:t>
            </a:r>
            <a:r>
              <a:rPr lang="zh-CN" altLang="en-US" sz="2800" b="1">
                <a:sym typeface="+mn-ea"/>
              </a:rPr>
              <a:t>card(A)+card(B)+card(C)-card(A∩B)-card(B∩C)-card(C∩A)+card(A∩B∩C)</a:t>
            </a:r>
            <a:endParaRPr lang="zh-CN" altLang="en-US" sz="2800" b="1">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 grpId="0" animBg="1"/>
      <p:bldP spid="7" grpId="1" animBg="1"/>
      <p:bldP spid="8" grpId="0" animBg="1"/>
      <p:bldP spid="8"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descr="校徽"/>
          <p:cNvPicPr>
            <a:picLocks noChangeAspect="1"/>
          </p:cNvPicPr>
          <p:nvPr>
            <p:custDataLst>
              <p:tags r:id="rId1"/>
            </p:custDataLst>
          </p:nvPr>
        </p:nvPicPr>
        <p:blipFill>
          <a:blip r:embed="rId2"/>
          <a:stretch>
            <a:fillRect/>
          </a:stretch>
        </p:blipFill>
        <p:spPr>
          <a:xfrm>
            <a:off x="11303635" y="10795"/>
            <a:ext cx="880745" cy="863600"/>
          </a:xfrm>
          <a:prstGeom prst="rect">
            <a:avLst/>
          </a:prstGeom>
        </p:spPr>
      </p:pic>
      <p:sp>
        <p:nvSpPr>
          <p:cNvPr id="17" name="文本框 16"/>
          <p:cNvSpPr txBox="1"/>
          <p:nvPr/>
        </p:nvSpPr>
        <p:spPr>
          <a:xfrm>
            <a:off x="475615" y="774700"/>
            <a:ext cx="6096000" cy="629920"/>
          </a:xfrm>
          <a:prstGeom prst="rect">
            <a:avLst/>
          </a:prstGeom>
          <a:noFill/>
        </p:spPr>
        <p:txBody>
          <a:bodyPr wrap="square" rtlCol="0">
            <a:spAutoFit/>
          </a:bodyPr>
          <a:p>
            <a:pPr lvl="0">
              <a:lnSpc>
                <a:spcPct val="125000"/>
              </a:lnSpc>
              <a:buNone/>
            </a:pPr>
            <a:r>
              <a:rPr lang="zh-CN" altLang="en-US" sz="2800" b="1">
                <a:solidFill>
                  <a:schemeClr val="folHlink"/>
                </a:solidFill>
                <a:ea typeface="楷体_GB2312" charset="0"/>
                <a:sym typeface="+mn-ea"/>
              </a:rPr>
              <a:t>“数学基础”的曙光</a:t>
            </a:r>
            <a:r>
              <a:rPr lang="en-US" altLang="zh-CN" sz="2800" b="1">
                <a:solidFill>
                  <a:schemeClr val="folHlink"/>
                </a:solidFill>
                <a:ea typeface="楷体_GB2312" charset="0"/>
                <a:sym typeface="+mn-ea"/>
              </a:rPr>
              <a:t>——</a:t>
            </a:r>
            <a:r>
              <a:rPr lang="zh-CN" altLang="en-US" sz="2800" b="1">
                <a:solidFill>
                  <a:schemeClr val="folHlink"/>
                </a:solidFill>
                <a:ea typeface="楷体_GB2312" charset="0"/>
                <a:sym typeface="+mn-ea"/>
              </a:rPr>
              <a:t>集合论</a:t>
            </a:r>
            <a:endParaRPr lang="zh-CN" altLang="en-US" sz="2800" b="1">
              <a:solidFill>
                <a:schemeClr val="folHlink"/>
              </a:solidFill>
              <a:ea typeface="楷体_GB2312" charset="0"/>
            </a:endParaRPr>
          </a:p>
        </p:txBody>
      </p:sp>
      <p:sp>
        <p:nvSpPr>
          <p:cNvPr id="18" name="矩形 17"/>
          <p:cNvSpPr/>
          <p:nvPr>
            <p:custDataLst>
              <p:tags r:id="rId3"/>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文本框 18"/>
          <p:cNvSpPr txBox="1"/>
          <p:nvPr>
            <p:custDataLst>
              <p:tags r:id="rId4"/>
            </p:custDataLst>
          </p:nvPr>
        </p:nvSpPr>
        <p:spPr>
          <a:xfrm>
            <a:off x="1384300" y="252730"/>
            <a:ext cx="3544570" cy="521970"/>
          </a:xfrm>
          <a:prstGeom prst="rect">
            <a:avLst/>
          </a:prstGeom>
          <a:noFill/>
        </p:spPr>
        <p:txBody>
          <a:bodyPr wrap="square" rtlCol="0">
            <a:spAutoFit/>
          </a:bodyPr>
          <a:p>
            <a:pPr algn="ct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4.“</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远观</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的集合</a:t>
            </a:r>
            <a:endPar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20" name="矩形 19"/>
          <p:cNvSpPr/>
          <p:nvPr>
            <p:custDataLst>
              <p:tags r:id="rId5"/>
            </p:custDataLst>
          </p:nvPr>
        </p:nvSpPr>
        <p:spPr>
          <a:xfrm>
            <a:off x="4928870" y="379095"/>
            <a:ext cx="3891915"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887730" y="1590675"/>
            <a:ext cx="10086975" cy="953135"/>
          </a:xfrm>
          <a:prstGeom prst="rect">
            <a:avLst/>
          </a:prstGeom>
          <a:noFill/>
        </p:spPr>
        <p:txBody>
          <a:bodyPr wrap="square" rtlCol="0" anchor="t">
            <a:spAutoFit/>
          </a:bodyPr>
          <a:p>
            <a:r>
              <a:rPr lang="zh-CN" altLang="en-US" sz="3200" b="1">
                <a:solidFill>
                  <a:srgbClr val="FF0000"/>
                </a:solidFill>
              </a:rPr>
              <a:t>函数：</a:t>
            </a:r>
            <a:r>
              <a:rPr lang="zh-CN" altLang="en-US" sz="2400"/>
              <a:t>函数可以看作是一个将一个集合的元素映射到另一个集合的元素的关系</a:t>
            </a:r>
            <a:endParaRPr lang="zh-CN" altLang="en-US" sz="2400"/>
          </a:p>
        </p:txBody>
      </p:sp>
      <p:sp>
        <p:nvSpPr>
          <p:cNvPr id="3" name="文本框 2"/>
          <p:cNvSpPr txBox="1"/>
          <p:nvPr/>
        </p:nvSpPr>
        <p:spPr>
          <a:xfrm>
            <a:off x="847090" y="2614295"/>
            <a:ext cx="10127615" cy="1630045"/>
          </a:xfrm>
          <a:prstGeom prst="rect">
            <a:avLst/>
          </a:prstGeom>
          <a:noFill/>
        </p:spPr>
        <p:txBody>
          <a:bodyPr wrap="square" rtlCol="0" anchor="t">
            <a:spAutoFit/>
          </a:bodyPr>
          <a:p>
            <a:r>
              <a:rPr lang="zh-CN" altLang="en-US" sz="2800" b="1">
                <a:solidFill>
                  <a:srgbClr val="FF0000"/>
                </a:solidFill>
              </a:rPr>
              <a:t>逻辑推理和统计学：</a:t>
            </a:r>
            <a:endParaRPr lang="zh-CN" altLang="en-US" sz="2800" b="1">
              <a:solidFill>
                <a:srgbClr val="FF0000"/>
              </a:solidFill>
            </a:endParaRPr>
          </a:p>
          <a:p>
            <a:r>
              <a:rPr lang="zh-CN" altLang="en-US" sz="2400"/>
              <a:t>在逻辑学中，集合经常用来表示命题的集合、谬误的集合等，通过集合的运算可以进行逻辑演算。</a:t>
            </a:r>
            <a:endParaRPr lang="zh-CN" altLang="en-US" sz="2400"/>
          </a:p>
          <a:p>
            <a:r>
              <a:rPr lang="zh-CN" altLang="en-US" sz="2400"/>
              <a:t>在统计学中，集合的应用可以帮助从大量的数据中找到有用的信息和规律</a:t>
            </a:r>
            <a:endParaRPr lang="zh-CN" altLang="en-US" sz="2400"/>
          </a:p>
        </p:txBody>
      </p:sp>
      <p:sp>
        <p:nvSpPr>
          <p:cNvPr id="4" name="文本框 3"/>
          <p:cNvSpPr txBox="1"/>
          <p:nvPr/>
        </p:nvSpPr>
        <p:spPr>
          <a:xfrm>
            <a:off x="847090" y="4521835"/>
            <a:ext cx="10527665" cy="1568450"/>
          </a:xfrm>
          <a:prstGeom prst="rect">
            <a:avLst/>
          </a:prstGeom>
          <a:noFill/>
        </p:spPr>
        <p:txBody>
          <a:bodyPr wrap="square" rtlCol="0" anchor="t">
            <a:spAutoFit/>
          </a:bodyPr>
          <a:p>
            <a:r>
              <a:rPr lang="zh-CN" altLang="en-US" sz="2400" b="1">
                <a:solidFill>
                  <a:srgbClr val="FF0000"/>
                </a:solidFill>
              </a:rPr>
              <a:t>数据库和缓存系统：</a:t>
            </a:r>
            <a:endParaRPr lang="zh-CN" altLang="en-US" sz="2400" b="1">
              <a:solidFill>
                <a:srgbClr val="FF0000"/>
              </a:solidFill>
            </a:endParaRPr>
          </a:p>
          <a:p>
            <a:r>
              <a:rPr lang="zh-CN" altLang="en-US" sz="2400"/>
              <a:t>在数据库中，集合可以用于表示关系表中的数据，以及进行集合运算来查询数据。在缓存系统（如Redis）中，集合数据结构（如Sets）被用于存储一些集合性的数据，并提供集合运算操作</a:t>
            </a:r>
            <a:endParaRPr lang="zh-CN" altLang="en-US" sz="24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2" name="标题 60417"/>
          <p:cNvSpPr/>
          <p:nvPr>
            <p:ph type="title" idx="4294967295"/>
          </p:nvPr>
        </p:nvSpPr>
        <p:spPr>
          <a:xfrm>
            <a:off x="120650" y="907415"/>
            <a:ext cx="5302885" cy="1143000"/>
          </a:xfrm>
          <a:prstGeom prst="rect">
            <a:avLst/>
          </a:prstGeom>
          <a:noFill/>
          <a:ln cap="flat">
            <a:solidFill>
              <a:srgbClr val="000000"/>
            </a:solidFill>
            <a:prstDash val="solid"/>
            <a:miter lim="800000"/>
            <a:headEnd type="none" w="med" len="med"/>
            <a:tailEnd type="none" w="med" len="med"/>
          </a:ln>
        </p:spPr>
        <p:txBody>
          <a:bodyPr vert="horz" wrap="square" anchor="ctr" anchorCtr="0">
            <a:noAutofit/>
          </a:bodyPr>
          <a:lstStyle>
            <a:lvl1pPr marL="0" indent="0" algn="ctr" defTabSz="914400" rtl="0" eaLnBrk="1" fontAlgn="base" hangingPunct="1">
              <a:lnSpc>
                <a:spcPct val="100000"/>
              </a:lnSpc>
              <a:spcBef>
                <a:spcPct val="0"/>
              </a:spcBef>
              <a:spcAft>
                <a:spcPct val="0"/>
              </a:spcAft>
              <a:buClrTx/>
              <a:buSzTx/>
              <a:buFont typeface="Arial" panose="020B0604020202020204"/>
              <a:buNone/>
              <a:defRPr kumimoji="0" lang="zh-CN" altLang="en-US" sz="4400" b="0" i="0" u="none" baseline="0">
                <a:solidFill>
                  <a:schemeClr val="tx2"/>
                </a:solidFill>
                <a:latin typeface="Arial" panose="020B0604020202020204"/>
                <a:ea typeface="宋体" panose="02010600030101010101" pitchFamily="2" charset="-122"/>
              </a:defRPr>
            </a:lvl1pPr>
          </a:lstStyle>
          <a:p>
            <a:pPr lvl="0"/>
            <a:r>
              <a:rPr lang="zh-CN" altLang="en-US" b="1"/>
              <a:t>理发师悖论</a:t>
            </a:r>
            <a:endParaRPr lang="zh-CN" altLang="en-US" b="1"/>
          </a:p>
        </p:txBody>
      </p:sp>
      <p:pic>
        <p:nvPicPr>
          <p:cNvPr id="2143" name="文本占位符 60419" descr="u=3724383552,3595027002&amp;gp=-6"/>
          <p:cNvPicPr/>
          <p:nvPr>
            <p:ph type="body" idx="4294967295"/>
          </p:nvPr>
        </p:nvPicPr>
        <p:blipFill>
          <a:blip r:embed="rId1"/>
          <a:stretch>
            <a:fillRect/>
          </a:stretch>
        </p:blipFill>
        <p:spPr>
          <a:xfrm>
            <a:off x="7939405" y="1044893"/>
            <a:ext cx="2070100" cy="2592388"/>
          </a:xfrm>
          <a:prstGeom prst="rect">
            <a:avLst/>
          </a:prstGeom>
          <a:noFill/>
          <a:ln cap="flat">
            <a:noFill/>
            <a:prstDash val="solid"/>
            <a:miter lim="800000"/>
            <a:headEnd type="none" w="med" len="med"/>
            <a:tailEnd type="none" w="med" len="med"/>
          </a:ln>
        </p:spPr>
      </p:pic>
      <p:sp>
        <p:nvSpPr>
          <p:cNvPr id="2144" name="矩形 60420"/>
          <p:cNvSpPr/>
          <p:nvPr/>
        </p:nvSpPr>
        <p:spPr>
          <a:xfrm>
            <a:off x="8250872" y="3894772"/>
            <a:ext cx="1008062" cy="368300"/>
          </a:xfrm>
          <a:prstGeom prst="rect">
            <a:avLst/>
          </a:prstGeom>
          <a:noFill/>
          <a:ln cap="flat">
            <a:noFill/>
            <a:prstDash val="solid"/>
            <a:miter lim="800000"/>
            <a:headEnd type="none" w="med" len="med"/>
            <a:tailEnd type="none" w="med" len="med"/>
          </a:ln>
        </p:spPr>
        <p:txBody>
          <a:bodyPr>
            <a:spAutoFit/>
          </a:bodyPr>
          <a:lstStyle>
            <a:lvl1pPr marL="342900" indent="-342900" algn="l" defTabSz="914400"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spcBef>
                <a:spcPct val="0"/>
              </a:spcBef>
              <a:buClrTx/>
              <a:buSzTx/>
              <a:buFontTx/>
              <a:buNone/>
            </a:pPr>
            <a:r>
              <a:rPr lang="zh-CN" altLang="en-US" sz="1800" b="1"/>
              <a:t>罗素</a:t>
            </a:r>
            <a:endParaRPr lang="zh-CN" altLang="en-US" sz="1800" b="1"/>
          </a:p>
        </p:txBody>
      </p:sp>
      <p:sp>
        <p:nvSpPr>
          <p:cNvPr id="2145" name="文本框 60422"/>
          <p:cNvSpPr/>
          <p:nvPr/>
        </p:nvSpPr>
        <p:spPr>
          <a:xfrm>
            <a:off x="516255" y="2329498"/>
            <a:ext cx="5256212" cy="2553335"/>
          </a:xfrm>
          <a:prstGeom prst="rect">
            <a:avLst/>
          </a:prstGeom>
          <a:noFill/>
          <a:ln cap="flat">
            <a:noFill/>
            <a:prstDash val="solid"/>
            <a:miter lim="800000"/>
            <a:headEnd type="none" w="med" len="med"/>
            <a:tailEnd type="none" w="med" len="med"/>
          </a:ln>
        </p:spPr>
        <p:txBody>
          <a:bodyPr>
            <a:spAutoFit/>
          </a:bodyPr>
          <a:lstStyle>
            <a:lvl1pPr marL="342900" indent="-342900" algn="l" defTabSz="914400"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spcBef>
                <a:spcPct val="50000"/>
              </a:spcBef>
              <a:buClrTx/>
              <a:buSzTx/>
              <a:buFontTx/>
              <a:buNone/>
            </a:pPr>
            <a:r>
              <a:rPr lang="zh-CN" altLang="en-US" b="1"/>
              <a:t>罗素悖论的通俗化</a:t>
            </a:r>
            <a:r>
              <a:rPr lang="en-US" altLang="zh-CN" b="1"/>
              <a:t>——</a:t>
            </a:r>
            <a:r>
              <a:rPr lang="en-US" altLang="zh-CN" b="1">
                <a:solidFill>
                  <a:schemeClr val="tx2"/>
                </a:solidFill>
              </a:rPr>
              <a:t>“</a:t>
            </a:r>
            <a:r>
              <a:rPr lang="zh-CN" altLang="en-US" b="1">
                <a:solidFill>
                  <a:schemeClr val="hlink"/>
                </a:solidFill>
              </a:rPr>
              <a:t>理发师悖论</a:t>
            </a:r>
            <a:r>
              <a:rPr lang="zh-CN" altLang="en-US" b="1">
                <a:solidFill>
                  <a:schemeClr val="tx2"/>
                </a:solidFill>
              </a:rPr>
              <a:t>”</a:t>
            </a:r>
            <a:r>
              <a:rPr lang="zh-CN" altLang="en-US" b="1"/>
              <a:t>：某村的一个理发师宣称，他给且只给村里自己不给自己刮脸的人刮脸。问：理发师是否给自己刮脸？</a:t>
            </a:r>
            <a:endParaRPr lang="zh-CN" altLang="en-US" b="1"/>
          </a:p>
        </p:txBody>
      </p:sp>
      <p:sp>
        <p:nvSpPr>
          <p:cNvPr id="2147" name="页脚占位符 2"/>
          <p:cNvSpPr/>
          <p:nvPr>
            <p:ph type="ftr" idx="1"/>
          </p:nvPr>
        </p:nvSpPr>
        <p:spPr>
          <a:xfrm>
            <a:off x="4648200" y="6245225"/>
            <a:ext cx="2895600"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lgn="ctr">
              <a:spcBef>
                <a:spcPct val="0"/>
              </a:spcBef>
              <a:buClrTx/>
              <a:buSzTx/>
              <a:buFontTx/>
              <a:buNone/>
            </a:pPr>
            <a:r>
              <a:rPr lang="zh-CN" altLang="en-US" sz="1400"/>
              <a:t>-</a:t>
            </a:r>
            <a:endParaRPr lang="zh-CN" altLang="en-US" sz="1400"/>
          </a:p>
        </p:txBody>
      </p:sp>
      <p:sp>
        <p:nvSpPr>
          <p:cNvPr id="2148" name="灯片编号占位符 3"/>
          <p:cNvSpPr/>
          <p:nvPr>
            <p:ph type="sldNum" idx="2"/>
          </p:nvPr>
        </p:nvSpPr>
        <p:spPr>
          <a:xfrm>
            <a:off x="8077200" y="6245225"/>
            <a:ext cx="2289175"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lgn="r">
              <a:spcBef>
                <a:spcPct val="0"/>
              </a:spcBef>
              <a:buClrTx/>
              <a:buSzTx/>
              <a:buFontTx/>
              <a:buNone/>
            </a:pPr>
            <a:fld id="{C9B35489-7EDB-4B6A-BB6F-8E92DCD306EE}" type="slidenum">
              <a:rPr lang="zh-CN" altLang="en-US" sz="1400"/>
            </a:fld>
            <a:endParaRPr lang="zh-CN" altLang="en-US" sz="1400"/>
          </a:p>
        </p:txBody>
      </p:sp>
      <p:sp>
        <p:nvSpPr>
          <p:cNvPr id="4" name="矩形 3"/>
          <p:cNvSpPr/>
          <p:nvPr>
            <p:custDataLst>
              <p:tags r:id="rId2"/>
            </p:custDataLst>
          </p:nvPr>
        </p:nvSpPr>
        <p:spPr>
          <a:xfrm>
            <a:off x="0" y="310243"/>
            <a:ext cx="1257300" cy="394298"/>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3"/>
            </p:custDataLst>
          </p:nvPr>
        </p:nvSpPr>
        <p:spPr>
          <a:xfrm>
            <a:off x="1257300" y="252730"/>
            <a:ext cx="2607945" cy="521970"/>
          </a:xfrm>
          <a:prstGeom prst="rect">
            <a:avLst/>
          </a:prstGeom>
          <a:noFill/>
        </p:spPr>
        <p:txBody>
          <a:bodyPr wrap="square" rtlCol="0">
            <a:spAutoFit/>
          </a:bodyPr>
          <a:p>
            <a:pPr algn="ct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集合</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的</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问题</a:t>
            </a:r>
            <a:r>
              <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rPr>
              <a:t>”</a:t>
            </a:r>
            <a:endParaRPr lang="en-US" altLang="zh-CN" sz="2800" b="1">
              <a:solidFill>
                <a:srgbClr val="0000FF"/>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6" name="矩形 5"/>
          <p:cNvSpPr/>
          <p:nvPr>
            <p:custDataLst>
              <p:tags r:id="rId4"/>
            </p:custDataLst>
          </p:nvPr>
        </p:nvSpPr>
        <p:spPr>
          <a:xfrm>
            <a:off x="3724910" y="310515"/>
            <a:ext cx="3614420" cy="394335"/>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校徽"/>
          <p:cNvPicPr>
            <a:picLocks noChangeAspect="1"/>
          </p:cNvPicPr>
          <p:nvPr>
            <p:custDataLst>
              <p:tags r:id="rId5"/>
            </p:custDataLst>
          </p:nvPr>
        </p:nvPicPr>
        <p:blipFill>
          <a:blip r:embed="rId6"/>
          <a:stretch>
            <a:fillRect/>
          </a:stretch>
        </p:blipFill>
        <p:spPr>
          <a:xfrm>
            <a:off x="10584815" y="181610"/>
            <a:ext cx="880745" cy="863600"/>
          </a:xfrm>
          <a:prstGeom prst="rect">
            <a:avLst/>
          </a:prstGeom>
        </p:spPr>
      </p:pic>
      <p:sp>
        <p:nvSpPr>
          <p:cNvPr id="15" name="文本框 14"/>
          <p:cNvSpPr txBox="1"/>
          <p:nvPr/>
        </p:nvSpPr>
        <p:spPr>
          <a:xfrm>
            <a:off x="576580" y="4923790"/>
            <a:ext cx="9296400" cy="953135"/>
          </a:xfrm>
          <a:prstGeom prst="rect">
            <a:avLst/>
          </a:prstGeom>
          <a:noFill/>
        </p:spPr>
        <p:txBody>
          <a:bodyPr wrap="square" rtlCol="0" anchor="t">
            <a:spAutoFit/>
          </a:bodyPr>
          <a:p>
            <a:pPr lvl="0"/>
            <a:r>
              <a:rPr lang="zh-TW" altLang="en-US" sz="2800" b="1">
                <a:sym typeface="+mn-ea"/>
              </a:rPr>
              <a:t>最</a:t>
            </a:r>
            <a:r>
              <a:rPr lang="zh-CN" altLang="en-US" sz="2800" b="1">
                <a:sym typeface="+mn-ea"/>
              </a:rPr>
              <a:t>后</a:t>
            </a:r>
            <a:r>
              <a:rPr lang="zh-TW" altLang="en-US" sz="2800" b="1">
                <a:sym typeface="+mn-ea"/>
              </a:rPr>
              <a:t>，</a:t>
            </a:r>
            <a:r>
              <a:rPr lang="zh-CN" altLang="en-US" sz="2800" b="1">
                <a:sym typeface="+mn-ea"/>
              </a:rPr>
              <a:t>这些</a:t>
            </a:r>
            <a:r>
              <a:rPr lang="zh-TW" altLang="en-US" sz="2800" b="1">
                <a:sym typeface="+mn-ea"/>
              </a:rPr>
              <a:t>既</a:t>
            </a:r>
            <a:r>
              <a:rPr lang="zh-CN" altLang="en-US" sz="2800" b="1">
                <a:sym typeface="+mn-ea"/>
              </a:rPr>
              <a:t>属于</a:t>
            </a:r>
            <a:r>
              <a:rPr lang="zh-TW" altLang="en-US" sz="2800" b="1">
                <a:sym typeface="+mn-ea"/>
              </a:rPr>
              <a:t>自己而又不</a:t>
            </a:r>
            <a:r>
              <a:rPr lang="zh-CN" altLang="en-US" sz="2800" b="1">
                <a:sym typeface="+mn-ea"/>
              </a:rPr>
              <a:t>属于</a:t>
            </a:r>
            <a:r>
              <a:rPr lang="zh-TW" altLang="en-US" sz="2800" b="1">
                <a:sym typeface="+mn-ea"/>
              </a:rPr>
              <a:t>自己的</a:t>
            </a:r>
            <a:r>
              <a:rPr lang="zh-TW" altLang="en-US" sz="2800" b="1">
                <a:solidFill>
                  <a:schemeClr val="hlink"/>
                </a:solidFill>
                <a:sym typeface="+mn-ea"/>
              </a:rPr>
              <a:t>集合 </a:t>
            </a:r>
            <a:r>
              <a:rPr lang="en-US" altLang="zh-TW" sz="2800" b="1">
                <a:solidFill>
                  <a:schemeClr val="hlink"/>
                </a:solidFill>
                <a:sym typeface="+mn-ea"/>
              </a:rPr>
              <a:t>(Set)</a:t>
            </a:r>
            <a:r>
              <a:rPr lang="zh-TW" altLang="en-US" sz="2800" b="1">
                <a:sym typeface="+mn-ea"/>
              </a:rPr>
              <a:t>，便成了集合</a:t>
            </a:r>
            <a:r>
              <a:rPr lang="zh-CN" altLang="en-US" sz="2800" b="1">
                <a:sym typeface="+mn-ea"/>
              </a:rPr>
              <a:t>论</a:t>
            </a:r>
            <a:r>
              <a:rPr lang="zh-TW" altLang="en-US" sz="2800" b="1">
                <a:sym typeface="+mn-ea"/>
              </a:rPr>
              <a:t>的矛盾，引</a:t>
            </a:r>
            <a:r>
              <a:rPr lang="zh-CN" altLang="en-US" sz="2800" b="1">
                <a:sym typeface="+mn-ea"/>
              </a:rPr>
              <a:t>发</a:t>
            </a:r>
            <a:r>
              <a:rPr lang="zh-TW" altLang="en-US" sz="2800" b="1">
                <a:sym typeface="+mn-ea"/>
              </a:rPr>
              <a:t>起第三次</a:t>
            </a:r>
            <a:r>
              <a:rPr lang="zh-CN" altLang="en-US" sz="2800" b="1">
                <a:sym typeface="+mn-ea"/>
              </a:rPr>
              <a:t>数学危机</a:t>
            </a:r>
            <a:r>
              <a:rPr lang="zh-TW" altLang="en-US" sz="2800" b="1">
                <a:sym typeface="+mn-ea"/>
              </a:rPr>
              <a:t>。</a:t>
            </a:r>
            <a:endParaRPr lang="zh-TW" altLang="en-US" sz="2800" b="1">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additive="base">
                                        <p:cTn id="6" dur="1" fill="hold">
                                          <p:stCondLst>
                                            <p:cond delay="0"/>
                                          </p:stCondLst>
                                        </p:cTn>
                                        <p:tgtEl>
                                          <p:spTgt spid="2143"/>
                                        </p:tgtEl>
                                        <p:attrNameLst>
                                          <p:attrName>style.visibility</p:attrName>
                                        </p:attrNameLst>
                                      </p:cBhvr>
                                      <p:to>
                                        <p:strVal val="visible"/>
                                      </p:to>
                                    </p:set>
                                    <p:animEffect transition="in" filter="blinds(horizontal)">
                                      <p:cBhvr additive="base">
                                        <p:cTn id="7" dur="500" fill="hold"/>
                                        <p:tgtEl>
                                          <p:spTgt spid="21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additive="base">
                                        <p:cTn id="11" dur="1" fill="hold">
                                          <p:stCondLst>
                                            <p:cond delay="0"/>
                                          </p:stCondLst>
                                        </p:cTn>
                                        <p:tgtEl>
                                          <p:spTgt spid="2144">
                                            <p:txEl>
                                              <p:pRg st="0" end="0"/>
                                            </p:txEl>
                                          </p:spTgt>
                                        </p:tgtEl>
                                        <p:attrNameLst>
                                          <p:attrName>style.visibility</p:attrName>
                                        </p:attrNameLst>
                                      </p:cBhvr>
                                      <p:to>
                                        <p:strVal val="visible"/>
                                      </p:to>
                                    </p:set>
                                    <p:anim calcmode="lin" valueType="num">
                                      <p:cBhvr additive="base">
                                        <p:cTn id="12" dur="500" fill="hold"/>
                                        <p:tgtEl>
                                          <p:spTgt spid="214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1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linds(horizontal)">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8" name="标题 62465"/>
          <p:cNvSpPr/>
          <p:nvPr>
            <p:ph type="title" idx="4294967295"/>
          </p:nvPr>
        </p:nvSpPr>
        <p:spPr>
          <a:xfrm>
            <a:off x="971550" y="527050"/>
            <a:ext cx="8037195" cy="1143000"/>
          </a:xfrm>
          <a:prstGeom prst="rect">
            <a:avLst/>
          </a:prstGeom>
          <a:noFill/>
          <a:ln cap="flat">
            <a:solidFill>
              <a:srgbClr val="000000"/>
            </a:solidFill>
            <a:prstDash val="solid"/>
            <a:miter lim="800000"/>
            <a:headEnd type="none" w="med" len="med"/>
            <a:tailEnd type="none" w="med" len="med"/>
          </a:ln>
        </p:spPr>
        <p:txBody>
          <a:bodyPr vert="horz" wrap="square" anchor="ctr" anchorCtr="0">
            <a:noAutofit/>
          </a:bodyPr>
          <a:lstStyle>
            <a:lvl1pPr marL="0" indent="0" algn="ctr" defTabSz="914400" rtl="0" eaLnBrk="1" fontAlgn="base" hangingPunct="1">
              <a:lnSpc>
                <a:spcPct val="100000"/>
              </a:lnSpc>
              <a:spcBef>
                <a:spcPct val="0"/>
              </a:spcBef>
              <a:spcAft>
                <a:spcPct val="0"/>
              </a:spcAft>
              <a:buClrTx/>
              <a:buSzTx/>
              <a:buFont typeface="Arial" panose="020B0604020202020204"/>
              <a:buNone/>
              <a:defRPr kumimoji="0" lang="zh-CN" altLang="en-US" sz="4400" b="0" i="0" u="none" baseline="0">
                <a:solidFill>
                  <a:schemeClr val="tx2"/>
                </a:solidFill>
                <a:latin typeface="Arial" panose="020B0604020202020204"/>
                <a:ea typeface="宋体" panose="02010600030101010101" pitchFamily="2" charset="-122"/>
              </a:defRPr>
            </a:lvl1pPr>
          </a:lstStyle>
          <a:p>
            <a:pPr lvl="0"/>
            <a:r>
              <a:rPr lang="zh-CN" altLang="en-US" b="1">
                <a:solidFill>
                  <a:schemeClr val="folHlink"/>
                </a:solidFill>
              </a:rPr>
              <a:t>危机的消除</a:t>
            </a:r>
            <a:endParaRPr lang="zh-CN" altLang="en-US" b="1">
              <a:solidFill>
                <a:schemeClr val="folHlink"/>
              </a:solidFill>
            </a:endParaRPr>
          </a:p>
        </p:txBody>
      </p:sp>
      <p:sp>
        <p:nvSpPr>
          <p:cNvPr id="2159" name="文本占位符 62466"/>
          <p:cNvSpPr/>
          <p:nvPr>
            <p:ph type="body" idx="4294967295"/>
          </p:nvPr>
        </p:nvSpPr>
        <p:spPr>
          <a:xfrm>
            <a:off x="1249680" y="1901825"/>
            <a:ext cx="8540750" cy="4194175"/>
          </a:xfrm>
          <a:prstGeom prst="rect">
            <a:avLst/>
          </a:prstGeom>
          <a:noFill/>
          <a:ln cap="flat">
            <a:solidFill>
              <a:srgbClr val="000000"/>
            </a:solidFill>
            <a:prstDash val="solid"/>
            <a:miter lim="800000"/>
            <a:headEnd type="none" w="med" len="med"/>
            <a:tailEnd type="none" w="med" len="med"/>
          </a:ln>
        </p:spPr>
        <p:txBody>
          <a:bodyPr vert="horz" wrap="square" anchor="t" anchorCtr="0">
            <a:noAutofit/>
          </a:bodyPr>
          <a:lstStyle>
            <a:lvl1pPr marL="342900" indent="-342900" algn="l" defTabSz="914400"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lvl="0">
              <a:buNone/>
            </a:pPr>
            <a:endParaRPr lang="en-US" altLang="zh-CN" b="1">
              <a:solidFill>
                <a:schemeClr val="folHlink"/>
              </a:solidFill>
            </a:endParaRPr>
          </a:p>
          <a:p>
            <a:pPr lvl="0"/>
            <a:r>
              <a:rPr lang="en-US" altLang="zh-CN" b="1"/>
              <a:t>     </a:t>
            </a:r>
            <a:r>
              <a:rPr lang="zh-CN" altLang="en-US" b="1"/>
              <a:t>危机出现以后，包括罗素本人在内的许多数学家作了巨大的努力来消除悖论。当时消除悖论的选择有两种，一种是抛弃集合论，再寻找新的理论基础，另一种是分析悖论产生的原因，改造集合论，探讨消除悖论的可能。</a:t>
            </a:r>
            <a:endParaRPr lang="zh-CN" altLang="en-US" b="1"/>
          </a:p>
        </p:txBody>
      </p:sp>
      <p:sp>
        <p:nvSpPr>
          <p:cNvPr id="2160" name="日期占位符 1"/>
          <p:cNvSpPr/>
          <p:nvPr>
            <p:ph type="dt"/>
          </p:nvPr>
        </p:nvSpPr>
        <p:spPr>
          <a:xfrm>
            <a:off x="1825625" y="6245225"/>
            <a:ext cx="2289175"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spcBef>
                <a:spcPct val="0"/>
              </a:spcBef>
              <a:buClrTx/>
              <a:buSzTx/>
              <a:buFontTx/>
              <a:buNone/>
            </a:pPr>
            <a:r>
              <a:rPr lang="zh-CN" altLang="en-US" sz="1400"/>
              <a:t>2019</a:t>
            </a:r>
            <a:endParaRPr lang="zh-CN" altLang="en-US" sz="1400"/>
          </a:p>
        </p:txBody>
      </p:sp>
      <p:sp>
        <p:nvSpPr>
          <p:cNvPr id="2161" name="页脚占位符 2"/>
          <p:cNvSpPr/>
          <p:nvPr>
            <p:ph type="ftr" idx="1"/>
          </p:nvPr>
        </p:nvSpPr>
        <p:spPr>
          <a:xfrm>
            <a:off x="4648200" y="6245225"/>
            <a:ext cx="2895600"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lgn="ctr">
              <a:spcBef>
                <a:spcPct val="0"/>
              </a:spcBef>
              <a:buClrTx/>
              <a:buSzTx/>
              <a:buFontTx/>
              <a:buNone/>
            </a:pPr>
            <a:r>
              <a:rPr lang="zh-CN" altLang="en-US" sz="1400"/>
              <a:t>-</a:t>
            </a:r>
            <a:endParaRPr lang="zh-CN" altLang="en-US" sz="1400"/>
          </a:p>
        </p:txBody>
      </p:sp>
      <p:sp>
        <p:nvSpPr>
          <p:cNvPr id="2162" name="灯片编号占位符 3"/>
          <p:cNvSpPr/>
          <p:nvPr>
            <p:ph type="sldNum" idx="2"/>
          </p:nvPr>
        </p:nvSpPr>
        <p:spPr>
          <a:xfrm>
            <a:off x="8077200" y="6245225"/>
            <a:ext cx="2289175"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lgn="r">
              <a:spcBef>
                <a:spcPct val="0"/>
              </a:spcBef>
              <a:buClrTx/>
              <a:buSzTx/>
              <a:buFontTx/>
              <a:buNone/>
            </a:pPr>
            <a:fld id="{B028A67A-61A7-4D4D-9838-D8AF32DAB73A}" type="slidenum">
              <a:rPr lang="zh-CN" altLang="en-US" sz="1400"/>
            </a:fld>
            <a:endParaRPr lang="zh-CN" altLang="en-US" sz="1400"/>
          </a:p>
        </p:txBody>
      </p:sp>
      <p:pic>
        <p:nvPicPr>
          <p:cNvPr id="24" name="图片 23" descr="校徽"/>
          <p:cNvPicPr>
            <a:picLocks noChangeAspect="1"/>
          </p:cNvPicPr>
          <p:nvPr>
            <p:custDataLst>
              <p:tags r:id="rId1"/>
            </p:custDataLst>
          </p:nvPr>
        </p:nvPicPr>
        <p:blipFill>
          <a:blip r:embed="rId2"/>
          <a:stretch>
            <a:fillRect/>
          </a:stretch>
        </p:blipFill>
        <p:spPr>
          <a:xfrm>
            <a:off x="11054080" y="422275"/>
            <a:ext cx="880745" cy="863600"/>
          </a:xfrm>
          <a:prstGeom prst="rect">
            <a:avLst/>
          </a:prstGeom>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6" name="文本占位符 72706"/>
          <p:cNvSpPr/>
          <p:nvPr>
            <p:ph type="body" idx="4294967295"/>
          </p:nvPr>
        </p:nvSpPr>
        <p:spPr>
          <a:xfrm>
            <a:off x="1289050" y="1331595"/>
            <a:ext cx="8540750" cy="4529455"/>
          </a:xfrm>
          <a:prstGeom prst="rect">
            <a:avLst/>
          </a:prstGeom>
          <a:noFill/>
          <a:ln cap="flat">
            <a:solidFill>
              <a:srgbClr val="000000"/>
            </a:solidFill>
            <a:prstDash val="solid"/>
            <a:miter lim="800000"/>
            <a:headEnd type="none" w="med" len="med"/>
            <a:tailEnd type="none" w="med" len="med"/>
          </a:ln>
        </p:spPr>
        <p:txBody>
          <a:bodyPr vert="horz" wrap="square" anchor="t" anchorCtr="0">
            <a:noAutofit/>
          </a:bodyPr>
          <a:lstStyle>
            <a:lvl1pPr marL="342900" indent="-342900" algn="l" defTabSz="914400"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lvl="0">
              <a:lnSpc>
                <a:spcPct val="140000"/>
              </a:lnSpc>
              <a:buNone/>
            </a:pPr>
            <a:r>
              <a:rPr lang="en-US" altLang="zh-CN" sz="2800" b="1"/>
              <a:t>          1908</a:t>
            </a:r>
            <a:r>
              <a:rPr lang="zh-CN" altLang="en-US" sz="2800" b="1"/>
              <a:t>年，策梅洛（</a:t>
            </a:r>
            <a:r>
              <a:rPr lang="en-US" altLang="zh-CN" sz="2800" b="1"/>
              <a:t>E.F.F.Zermelo,1871—1953</a:t>
            </a:r>
            <a:r>
              <a:rPr lang="zh-CN" altLang="en-US" sz="2800" b="1"/>
              <a:t>）提出了由</a:t>
            </a:r>
            <a:r>
              <a:rPr lang="en-US" altLang="zh-CN" sz="2800" b="1"/>
              <a:t>7</a:t>
            </a:r>
            <a:r>
              <a:rPr lang="zh-CN" altLang="en-US" sz="2800" b="1"/>
              <a:t>条公理组成的集合论体系，称为</a:t>
            </a:r>
            <a:r>
              <a:rPr lang="en-US" altLang="zh-CN" sz="2800" b="1"/>
              <a:t>Z-</a:t>
            </a:r>
            <a:r>
              <a:rPr lang="zh-CN" altLang="en-US" sz="2800" b="1"/>
              <a:t>系统。</a:t>
            </a:r>
            <a:endParaRPr lang="zh-CN" altLang="en-US" sz="2800" b="1"/>
          </a:p>
          <a:p>
            <a:pPr lvl="0">
              <a:lnSpc>
                <a:spcPct val="140000"/>
              </a:lnSpc>
              <a:buNone/>
            </a:pPr>
            <a:r>
              <a:rPr lang="zh-CN" altLang="en-US" sz="2800" b="1"/>
              <a:t>          </a:t>
            </a:r>
            <a:r>
              <a:rPr lang="en-US" altLang="zh-CN" sz="2800" b="1"/>
              <a:t>1922</a:t>
            </a:r>
            <a:r>
              <a:rPr lang="zh-CN" altLang="en-US" sz="2800" b="1"/>
              <a:t>年，弗兰克（</a:t>
            </a:r>
            <a:r>
              <a:rPr lang="en-US" altLang="zh-CN" sz="2800" b="1"/>
              <a:t>A.A.Fraenkel</a:t>
            </a:r>
            <a:r>
              <a:rPr lang="zh-CN" altLang="en-US" sz="2800" b="1"/>
              <a:t>）又加进一条公理，还把公理用符号逻辑表示出来，形成了集合论的</a:t>
            </a:r>
            <a:r>
              <a:rPr lang="en-US" altLang="zh-CN" sz="2800" b="1"/>
              <a:t>ZF-</a:t>
            </a:r>
            <a:r>
              <a:rPr lang="zh-CN" altLang="en-US" sz="2800" b="1"/>
              <a:t>系统。再后来，还有改进的</a:t>
            </a:r>
            <a:r>
              <a:rPr lang="en-US" altLang="zh-CN" sz="2800" b="1"/>
              <a:t>ZFC-</a:t>
            </a:r>
            <a:r>
              <a:rPr lang="zh-CN" altLang="en-US" sz="2800" b="1"/>
              <a:t>系统。</a:t>
            </a:r>
            <a:endParaRPr lang="zh-CN" altLang="en-US" sz="2800" b="1"/>
          </a:p>
          <a:p>
            <a:pPr lvl="0">
              <a:lnSpc>
                <a:spcPct val="140000"/>
              </a:lnSpc>
              <a:buNone/>
            </a:pPr>
            <a:r>
              <a:rPr lang="zh-CN" altLang="en-US" sz="2800" b="1"/>
              <a:t>         这样，大体完成了</a:t>
            </a:r>
            <a:r>
              <a:rPr lang="zh-CN" altLang="en-US" sz="2800" b="1">
                <a:solidFill>
                  <a:schemeClr val="hlink"/>
                </a:solidFill>
              </a:rPr>
              <a:t>由朴素集合论到公理集合论的发展过程，悖论消除了。</a:t>
            </a:r>
            <a:endParaRPr lang="zh-CN" altLang="en-US" sz="2800" b="1">
              <a:solidFill>
                <a:schemeClr val="hlink"/>
              </a:solidFill>
            </a:endParaRPr>
          </a:p>
        </p:txBody>
      </p:sp>
      <p:sp>
        <p:nvSpPr>
          <p:cNvPr id="2167" name="日期占位符 1"/>
          <p:cNvSpPr/>
          <p:nvPr>
            <p:ph type="dt"/>
          </p:nvPr>
        </p:nvSpPr>
        <p:spPr>
          <a:xfrm>
            <a:off x="1825625" y="6245225"/>
            <a:ext cx="2289175"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spcBef>
                <a:spcPct val="0"/>
              </a:spcBef>
              <a:buClrTx/>
              <a:buSzTx/>
              <a:buFontTx/>
              <a:buNone/>
            </a:pPr>
            <a:r>
              <a:rPr lang="zh-CN" altLang="en-US" sz="1400"/>
              <a:t>2019</a:t>
            </a:r>
            <a:endParaRPr lang="zh-CN" altLang="en-US" sz="1400"/>
          </a:p>
        </p:txBody>
      </p:sp>
      <p:sp>
        <p:nvSpPr>
          <p:cNvPr id="2168" name="页脚占位符 2"/>
          <p:cNvSpPr/>
          <p:nvPr>
            <p:ph type="ftr" idx="1"/>
          </p:nvPr>
        </p:nvSpPr>
        <p:spPr>
          <a:xfrm>
            <a:off x="4648200" y="6245225"/>
            <a:ext cx="2895600"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lgn="ctr">
              <a:spcBef>
                <a:spcPct val="0"/>
              </a:spcBef>
              <a:buClrTx/>
              <a:buSzTx/>
              <a:buFontTx/>
              <a:buNone/>
            </a:pPr>
            <a:r>
              <a:rPr lang="zh-CN" altLang="en-US" sz="1400"/>
              <a:t>-</a:t>
            </a:r>
            <a:endParaRPr lang="zh-CN" altLang="en-US" sz="1400"/>
          </a:p>
        </p:txBody>
      </p:sp>
      <p:sp>
        <p:nvSpPr>
          <p:cNvPr id="2169" name="灯片编号占位符 3"/>
          <p:cNvSpPr/>
          <p:nvPr>
            <p:ph type="sldNum" idx="2"/>
          </p:nvPr>
        </p:nvSpPr>
        <p:spPr>
          <a:xfrm>
            <a:off x="8077200" y="6245225"/>
            <a:ext cx="2289175" cy="476250"/>
          </a:xfrm>
          <a:prstGeom prst="rect">
            <a:avLst/>
          </a:prstGeom>
          <a:noFill/>
          <a:ln cap="flat">
            <a:noFill/>
            <a:prstDash val="solid"/>
            <a:miter lim="800000"/>
            <a:headEnd type="none" w="med" len="med"/>
            <a:tailEnd type="none" w="med" len="med"/>
          </a:ln>
        </p:spPr>
        <p:txBody>
          <a:bodyPr>
            <a:noAutofit/>
          </a:bodyPr>
          <a:lstStyle>
            <a:lvl1pPr marL="0" indent="0" algn="l" rtl="0" eaLnBrk="1" fontAlgn="base" hangingPunct="1">
              <a:lnSpc>
                <a:spcPct val="100000"/>
              </a:lnSpc>
              <a:spcBef>
                <a:spcPct val="20000"/>
              </a:spcBef>
              <a:spcAft>
                <a:spcPct val="0"/>
              </a:spcAft>
              <a:buClr>
                <a:schemeClr val="hlink"/>
              </a:buClr>
              <a:buSzPct val="75000"/>
              <a:buFont typeface="Wingdings" panose="05000000000000000000" pitchFamily="2" charset="2"/>
              <a:buChar char="v"/>
              <a:defRPr kumimoji="0" lang="zh-CN" altLang="en-US" sz="3200" b="0" i="0" u="none" baseline="0">
                <a:solidFill>
                  <a:schemeClr val="tx1"/>
                </a:solidFill>
                <a:latin typeface="Arial" panose="020B0604020202020204"/>
                <a:ea typeface="宋体" panose="02010600030101010101" pitchFamily="2" charset="-122"/>
              </a:defRPr>
            </a:lvl1pPr>
            <a:lvl2pPr marL="742950" indent="-285750" algn="l" defTabSz="914400" rtl="0" eaLnBrk="1" fontAlgn="base" hangingPunct="1">
              <a:lnSpc>
                <a:spcPct val="100000"/>
              </a:lnSpc>
              <a:spcBef>
                <a:spcPct val="20000"/>
              </a:spcBef>
              <a:spcAft>
                <a:spcPct val="0"/>
              </a:spcAft>
              <a:buClr>
                <a:schemeClr val="accent2"/>
              </a:buClr>
              <a:buSzPct val="85000"/>
              <a:buFont typeface="Wingdings" panose="05000000000000000000" pitchFamily="2" charset="2"/>
              <a:buChar char=""/>
              <a:defRPr kumimoji="0" lang="zh-CN" altLang="en-US" sz="2800" b="0" i="0" u="none" baseline="0">
                <a:solidFill>
                  <a:schemeClr val="tx1"/>
                </a:solidFill>
                <a:latin typeface="Arial" panose="020B0604020202020204"/>
                <a:ea typeface="宋体" panose="02010600030101010101" pitchFamily="2" charset="-122"/>
              </a:defRPr>
            </a:lvl2pPr>
            <a:lvl3pPr marL="11430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400" b="0" i="0" u="none" baseline="0">
                <a:solidFill>
                  <a:schemeClr val="tx1"/>
                </a:solidFill>
                <a:latin typeface="Arial" panose="020B0604020202020204"/>
                <a:ea typeface="宋体" panose="02010600030101010101" pitchFamily="2" charset="-122"/>
              </a:defRPr>
            </a:lvl3pPr>
            <a:lvl4pPr marL="1600200" indent="-228600" algn="l" defTabSz="914400" rtl="0" eaLnBrk="1" fontAlgn="base" hangingPunct="1">
              <a:lnSpc>
                <a:spcPct val="100000"/>
              </a:lnSpc>
              <a:spcBef>
                <a:spcPct val="20000"/>
              </a:spcBef>
              <a:spcAft>
                <a:spcPct val="0"/>
              </a:spcAft>
              <a:buClr>
                <a:schemeClr val="accent2"/>
              </a:buClr>
              <a:buSzPct val="90000"/>
              <a:buFont typeface="Wingdings" panose="05000000000000000000" pitchFamily="2" charset="2"/>
              <a:buChar char=""/>
              <a:defRPr kumimoji="0" lang="zh-CN" altLang="en-US" sz="2000" b="0" i="0" u="none" baseline="0">
                <a:solidFill>
                  <a:schemeClr val="tx1"/>
                </a:solidFill>
                <a:latin typeface="Arial" panose="020B0604020202020204"/>
                <a:ea typeface="宋体" panose="02010600030101010101" pitchFamily="2" charset="-122"/>
              </a:defRPr>
            </a:lvl4pPr>
            <a:lvl5pPr marL="2057400" indent="-228600" algn="l" defTabSz="914400" rtl="0" eaLnBrk="1" fontAlgn="base" hangingPunct="1">
              <a:lnSpc>
                <a:spcPct val="100000"/>
              </a:lnSpc>
              <a:spcBef>
                <a:spcPct val="20000"/>
              </a:spcBef>
              <a:spcAft>
                <a:spcPct val="0"/>
              </a:spcAft>
              <a:buClr>
                <a:schemeClr val="hlink"/>
              </a:buClr>
              <a:buSzPct val="85000"/>
              <a:buFont typeface="Wingdings" panose="05000000000000000000" pitchFamily="2" charset="2"/>
              <a:buChar char="v"/>
              <a:defRPr kumimoji="0" lang="zh-CN" altLang="en-US" sz="2000" b="0" i="0" u="none" baseline="0">
                <a:solidFill>
                  <a:schemeClr val="tx1"/>
                </a:solidFill>
                <a:latin typeface="Arial" panose="020B0604020202020204"/>
                <a:ea typeface="宋体" panose="02010600030101010101" pitchFamily="2" charset="-122"/>
              </a:defRPr>
            </a:lvl5pPr>
          </a:lstStyle>
          <a:p>
            <a:pPr marL="0" lvl="0" indent="0" algn="r">
              <a:spcBef>
                <a:spcPct val="0"/>
              </a:spcBef>
              <a:buClrTx/>
              <a:buSzTx/>
              <a:buFontTx/>
              <a:buNone/>
            </a:pPr>
            <a:fld id="{4EAA2332-2540-4713-991A-B635D7DA5C55}" type="slidenum">
              <a:rPr lang="zh-CN" altLang="en-US" sz="1400"/>
            </a:fld>
            <a:endParaRPr lang="zh-CN" altLang="en-US" sz="1400"/>
          </a:p>
        </p:txBody>
      </p:sp>
      <p:pic>
        <p:nvPicPr>
          <p:cNvPr id="24" name="图片 23" descr="校徽"/>
          <p:cNvPicPr>
            <a:picLocks noChangeAspect="1"/>
          </p:cNvPicPr>
          <p:nvPr>
            <p:custDataLst>
              <p:tags r:id="rId1"/>
            </p:custDataLst>
          </p:nvPr>
        </p:nvPicPr>
        <p:blipFill>
          <a:blip r:embed="rId2"/>
          <a:stretch>
            <a:fillRect/>
          </a:stretch>
        </p:blipFill>
        <p:spPr>
          <a:xfrm>
            <a:off x="10805160" y="354965"/>
            <a:ext cx="880745" cy="8636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additive="base">
                                        <p:cTn id="6" dur="1" fill="hold">
                                          <p:stCondLst>
                                            <p:cond delay="0"/>
                                          </p:stCondLst>
                                        </p:cTn>
                                        <p:tgtEl>
                                          <p:spTgt spid="2166">
                                            <p:txEl>
                                              <p:pRg st="0" end="0"/>
                                            </p:txEl>
                                          </p:spTgt>
                                        </p:tgtEl>
                                        <p:attrNameLst>
                                          <p:attrName>style.visibility</p:attrName>
                                        </p:attrNameLst>
                                      </p:cBhvr>
                                      <p:to>
                                        <p:strVal val="visible"/>
                                      </p:to>
                                    </p:set>
                                    <p:animEffect transition="in" filter="box(in)">
                                      <p:cBhvr additive="base">
                                        <p:cTn id="7" dur="500" fill="hold"/>
                                        <p:tgtEl>
                                          <p:spTgt spid="2166">
                                            <p:txEl>
                                              <p:pRg st="0" end="0"/>
                                            </p:txEl>
                                          </p:spTgt>
                                        </p:tgtEl>
                                      </p:cBhvr>
                                    </p:animEffect>
                                  </p:childTnLst>
                                </p:cTn>
                              </p:par>
                              <p:par>
                                <p:cTn id="8" presetID="4" presetClass="entr" presetSubtype="16" fill="hold" nodeType="withEffect">
                                  <p:stCondLst>
                                    <p:cond delay="0"/>
                                  </p:stCondLst>
                                  <p:childTnLst>
                                    <p:set>
                                      <p:cBhvr additive="base">
                                        <p:cTn id="9" dur="1" fill="hold">
                                          <p:stCondLst>
                                            <p:cond delay="0"/>
                                          </p:stCondLst>
                                        </p:cTn>
                                        <p:tgtEl>
                                          <p:spTgt spid="2166">
                                            <p:txEl>
                                              <p:pRg st="1" end="1"/>
                                            </p:txEl>
                                          </p:spTgt>
                                        </p:tgtEl>
                                        <p:attrNameLst>
                                          <p:attrName>style.visibility</p:attrName>
                                        </p:attrNameLst>
                                      </p:cBhvr>
                                      <p:to>
                                        <p:strVal val="visible"/>
                                      </p:to>
                                    </p:set>
                                    <p:animEffect transition="in" filter="box(in)">
                                      <p:cBhvr additive="base">
                                        <p:cTn id="10" dur="500" fill="hold"/>
                                        <p:tgtEl>
                                          <p:spTgt spid="2166">
                                            <p:txEl>
                                              <p:pRg st="1" end="1"/>
                                            </p:txEl>
                                          </p:spTgt>
                                        </p:tgtEl>
                                      </p:cBhvr>
                                    </p:animEffect>
                                  </p:childTnLst>
                                </p:cTn>
                              </p:par>
                              <p:par>
                                <p:cTn id="11" presetID="4" presetClass="entr" presetSubtype="16" fill="hold" nodeType="withEffect">
                                  <p:stCondLst>
                                    <p:cond delay="0"/>
                                  </p:stCondLst>
                                  <p:childTnLst>
                                    <p:set>
                                      <p:cBhvr additive="base">
                                        <p:cTn id="12" dur="1" fill="hold">
                                          <p:stCondLst>
                                            <p:cond delay="0"/>
                                          </p:stCondLst>
                                        </p:cTn>
                                        <p:tgtEl>
                                          <p:spTgt spid="2166">
                                            <p:txEl>
                                              <p:pRg st="2" end="2"/>
                                            </p:txEl>
                                          </p:spTgt>
                                        </p:tgtEl>
                                        <p:attrNameLst>
                                          <p:attrName>style.visibility</p:attrName>
                                        </p:attrNameLst>
                                      </p:cBhvr>
                                      <p:to>
                                        <p:strVal val="visible"/>
                                      </p:to>
                                    </p:set>
                                    <p:animEffect transition="in" filter="box(in)">
                                      <p:cBhvr additive="base">
                                        <p:cTn id="13" dur="500" fill="hold"/>
                                        <p:tgtEl>
                                          <p:spTgt spid="21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5" y="0"/>
            <a:ext cx="12190730" cy="6858000"/>
          </a:xfrm>
          <a:prstGeom prst="rect">
            <a:avLst/>
          </a:prstGeom>
        </p:spPr>
      </p:pic>
      <p:sp>
        <p:nvSpPr>
          <p:cNvPr id="3" name="矩形 2"/>
          <p:cNvSpPr/>
          <p:nvPr/>
        </p:nvSpPr>
        <p:spPr>
          <a:xfrm>
            <a:off x="3121233" y="2426411"/>
            <a:ext cx="4898570" cy="2061210"/>
          </a:xfrm>
          <a:prstGeom prst="rect">
            <a:avLst/>
          </a:prstGeom>
        </p:spPr>
        <p:txBody>
          <a:bodyPr wrap="square">
            <a:spAutoFit/>
          </a:bodyPr>
          <a:lstStyle>
            <a:defPPr algn="l" rtl="0" eaLnBrk="1" hangingPunct="0">
              <a:defRPr kumimoji="0" lang="zh-CN"/>
            </a:defPPr>
          </a:lstStyle>
          <a:p>
            <a:pPr>
              <a:lnSpc>
                <a:spcPct val="200000"/>
              </a:lnSpc>
            </a:pPr>
            <a:r>
              <a:rPr lang="zh-CN" altLang="en-US" sz="2800"/>
              <a:t>结束语</a:t>
            </a:r>
            <a:endParaRPr lang="en-US" altLang="zh-CN" sz="2800" smtClean="0"/>
          </a:p>
          <a:p>
            <a:pPr>
              <a:lnSpc>
                <a:spcPct val="150000"/>
              </a:lnSpc>
            </a:pPr>
            <a:r>
              <a:rPr lang="zh-CN" altLang="en-US" smtClean="0"/>
              <a:t>当</a:t>
            </a:r>
            <a:r>
              <a:rPr lang="zh-CN" altLang="en-US"/>
              <a:t>你尽了自己的最大努力</a:t>
            </a:r>
            <a:r>
              <a:rPr lang="zh-CN" altLang="en-US" smtClean="0"/>
              <a:t>时</a:t>
            </a:r>
            <a:r>
              <a:rPr lang="zh-CN" altLang="en-US"/>
              <a:t>，</a:t>
            </a:r>
            <a:r>
              <a:rPr lang="zh-CN" altLang="en-US" smtClean="0"/>
              <a:t>失败</a:t>
            </a:r>
            <a:r>
              <a:rPr lang="zh-CN" altLang="en-US"/>
              <a:t>也是伟大</a:t>
            </a:r>
            <a:r>
              <a:rPr lang="zh-CN" altLang="en-US" smtClean="0"/>
              <a:t>的，所以不要放弃，坚持就是正确的。</a:t>
            </a:r>
            <a:endParaRPr lang="en-US" altLang="zh-CN" smtClean="0"/>
          </a:p>
          <a:p>
            <a:pPr>
              <a:lnSpc>
                <a:spcPct val="150000"/>
              </a:lnSpc>
            </a:pPr>
            <a:r>
              <a:rPr lang="en-US" altLang="zh-CN" sz="1200"/>
              <a:t>When You Do Your Best, Failure Is Great, So Don'T Give Up, Stick To The </a:t>
            </a:r>
            <a:r>
              <a:rPr lang="en-US" altLang="zh-CN" sz="1200" smtClean="0"/>
              <a:t>End</a:t>
            </a:r>
            <a:endParaRPr lang="en-US" altLang="zh-CN" sz="1200" smtClean="0"/>
          </a:p>
        </p:txBody>
      </p:sp>
      <p:cxnSp>
        <p:nvCxnSpPr>
          <p:cNvPr id="5" name="直接连接符 4"/>
          <p:cNvCxnSpPr/>
          <p:nvPr/>
        </p:nvCxnSpPr>
        <p:spPr>
          <a:xfrm flipH="1">
            <a:off x="3055920" y="2778826"/>
            <a:ext cx="0" cy="414002"/>
          </a:xfrm>
          <a:prstGeom prst="line">
            <a:avLst/>
          </a:prstGeom>
          <a:ln w="76200">
            <a:solidFill>
              <a:schemeClr val="tx1">
                <a:lumMod val="50000"/>
                <a:lumOff val="50000"/>
              </a:schemeClr>
            </a:solidFill>
          </a:ln>
        </p:spPr>
        <p:style>
          <a:lnRef idx="1">
            <a:schemeClr val="dk1"/>
          </a:lnRef>
          <a:fillRef idx="0">
            <a:schemeClr val="dk1"/>
          </a:fillRef>
          <a:effectRef idx="0">
            <a:schemeClr val="dk1"/>
          </a:effectRef>
          <a:fontRef idx="minor">
            <a:schemeClr val="tx1"/>
          </a:fontRef>
        </p:style>
      </p:cxn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AS_UNIQUEID" val="3843"/>
  <p:tag name="KSO_WM_BEAUTIFY_FLAG" val=""/>
</p:tagLst>
</file>

<file path=ppt/tags/tag3.xml><?xml version="1.0" encoding="utf-8"?>
<p:tagLst xmlns:p="http://schemas.openxmlformats.org/presentationml/2006/main">
  <p:tag name="AS_UNIQUEID" val="3844"/>
  <p:tag name="KSO_WM_BEAUTIFY_FLAG" val=""/>
</p:tagLst>
</file>

<file path=ppt/tags/tag4.xml><?xml version="1.0" encoding="utf-8"?>
<p:tagLst xmlns:p="http://schemas.openxmlformats.org/presentationml/2006/main">
  <p:tag name="AS_UNIQUEID" val="3845"/>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 name="KSO_WM_UNIT_PLACING_PICTURE_USER_VIEWPORT" val="{&quot;height&quot;:2220,&quot;width&quot;:1500}"/>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AS_UNIQUEID" val="3843"/>
  <p:tag name="KSO_WM_BEAUTIFY_FLAG" val=""/>
</p:tagLst>
</file>

<file path=ppt/tags/tag9.xml><?xml version="1.0" encoding="utf-8"?>
<p:tagLst xmlns:p="http://schemas.openxmlformats.org/presentationml/2006/main">
  <p:tag name="AS_UNIQUEID" val="3844"/>
  <p:tag name="KSO_WM_BEAUTIFY_FLAG" val=""/>
</p:tagLst>
</file>

<file path=ppt/tags/tag10.xml><?xml version="1.0" encoding="utf-8"?>
<p:tagLst xmlns:p="http://schemas.openxmlformats.org/presentationml/2006/main">
  <p:tag name="AS_UNIQUEID" val="3845"/>
  <p:tag name="KSO_WM_BEAUTIFY_FLAG" val=""/>
</p:tagLst>
</file>

<file path=ppt/tags/tag11.xml><?xml version="1.0" encoding="utf-8"?>
<p:tagLst xmlns:p="http://schemas.openxmlformats.org/presentationml/2006/main">
  <p:tag name="AS_UNIQUEID" val="3843"/>
  <p:tag name="KSO_WM_BEAUTIFY_FLAG" val=""/>
</p:tagLst>
</file>

<file path=ppt/tags/tag12.xml><?xml version="1.0" encoding="utf-8"?>
<p:tagLst xmlns:p="http://schemas.openxmlformats.org/presentationml/2006/main">
  <p:tag name="AS_UNIQUEID" val="3844"/>
  <p:tag name="KSO_WM_BEAUTIFY_FLAG" val=""/>
</p:tagLst>
</file>

<file path=ppt/tags/tag13.xml><?xml version="1.0" encoding="utf-8"?>
<p:tagLst xmlns:p="http://schemas.openxmlformats.org/presentationml/2006/main">
  <p:tag name="AS_UNIQUEID" val="3845"/>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AS_UNIQUEID" val="3843"/>
  <p:tag name="KSO_WM_BEAUTIFY_FLAG" val=""/>
</p:tagLst>
</file>

<file path=ppt/tags/tag16.xml><?xml version="1.0" encoding="utf-8"?>
<p:tagLst xmlns:p="http://schemas.openxmlformats.org/presentationml/2006/main">
  <p:tag name="AS_UNIQUEID" val="3844"/>
  <p:tag name="KSO_WM_BEAUTIFY_FLAG" val=""/>
</p:tagLst>
</file>

<file path=ppt/tags/tag17.xml><?xml version="1.0" encoding="utf-8"?>
<p:tagLst xmlns:p="http://schemas.openxmlformats.org/presentationml/2006/main">
  <p:tag name="AS_UNIQUEID" val="3845"/>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AS_UNIQUEID" val="3843"/>
  <p:tag name="KSO_WM_BEAUTIFY_FLAG" val=""/>
</p:tagLst>
</file>

<file path=ppt/tags/tag20.xml><?xml version="1.0" encoding="utf-8"?>
<p:tagLst xmlns:p="http://schemas.openxmlformats.org/presentationml/2006/main">
  <p:tag name="AS_UNIQUEID" val="3844"/>
  <p:tag name="KSO_WM_BEAUTIFY_FLAG" val=""/>
</p:tagLst>
</file>

<file path=ppt/tags/tag21.xml><?xml version="1.0" encoding="utf-8"?>
<p:tagLst xmlns:p="http://schemas.openxmlformats.org/presentationml/2006/main">
  <p:tag name="AS_UNIQUEID" val="3845"/>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AS_UNIQUEID" val="3843"/>
  <p:tag name="KSO_WM_BEAUTIFY_FLAG" val=""/>
</p:tagLst>
</file>

<file path=ppt/tags/tag24.xml><?xml version="1.0" encoding="utf-8"?>
<p:tagLst xmlns:p="http://schemas.openxmlformats.org/presentationml/2006/main">
  <p:tag name="AS_UNIQUEID" val="3844"/>
  <p:tag name="KSO_WM_BEAUTIFY_FLAG" val=""/>
</p:tagLst>
</file>

<file path=ppt/tags/tag25.xml><?xml version="1.0" encoding="utf-8"?>
<p:tagLst xmlns:p="http://schemas.openxmlformats.org/presentationml/2006/main">
  <p:tag name="AS_UNIQUEID" val="3845"/>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AS_UNIQUEID" val="3843"/>
  <p:tag name="KSO_WM_BEAUTIFY_FLAG" val=""/>
</p:tagLst>
</file>

<file path=ppt/tags/tag28.xml><?xml version="1.0" encoding="utf-8"?>
<p:tagLst xmlns:p="http://schemas.openxmlformats.org/presentationml/2006/main">
  <p:tag name="AS_UNIQUEID" val="3844"/>
  <p:tag name="KSO_WM_BEAUTIFY_FLAG" val=""/>
</p:tagLst>
</file>

<file path=ppt/tags/tag29.xml><?xml version="1.0" encoding="utf-8"?>
<p:tagLst xmlns:p="http://schemas.openxmlformats.org/presentationml/2006/main">
  <p:tag name="AS_UNIQUEID" val="3845"/>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AS_UNIQUEID" val="3843"/>
  <p:tag name="KSO_WM_BEAUTIFY_FLAG" val=""/>
</p:tagLst>
</file>

<file path=ppt/tags/tag32.xml><?xml version="1.0" encoding="utf-8"?>
<p:tagLst xmlns:p="http://schemas.openxmlformats.org/presentationml/2006/main">
  <p:tag name="AS_UNIQUEID" val="3844"/>
  <p:tag name="KSO_WM_BEAUTIFY_FLAG" val=""/>
</p:tagLst>
</file>

<file path=ppt/tags/tag33.xml><?xml version="1.0" encoding="utf-8"?>
<p:tagLst xmlns:p="http://schemas.openxmlformats.org/presentationml/2006/main">
  <p:tag name="AS_UNIQUEID" val="3845"/>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AS_UNIQUEID" val="3843"/>
  <p:tag name="KSO_WM_BEAUTIFY_FLAG" val=""/>
</p:tagLst>
</file>

<file path=ppt/tags/tag37.xml><?xml version="1.0" encoding="utf-8"?>
<p:tagLst xmlns:p="http://schemas.openxmlformats.org/presentationml/2006/main">
  <p:tag name="AS_UNIQUEID" val="3844"/>
  <p:tag name="KSO_WM_BEAUTIFY_FLAG" val=""/>
</p:tagLst>
</file>

<file path=ppt/tags/tag38.xml><?xml version="1.0" encoding="utf-8"?>
<p:tagLst xmlns:p="http://schemas.openxmlformats.org/presentationml/2006/main">
  <p:tag name="AS_UNIQUEID" val="3845"/>
  <p:tag name="KSO_WM_BEAUTIFY_FLAG" val=""/>
</p:tagLst>
</file>

<file path=ppt/tags/tag39.xml><?xml version="1.0" encoding="utf-8"?>
<p:tagLst xmlns:p="http://schemas.openxmlformats.org/presentationml/2006/main">
  <p:tag name="AS_UNIQUEID" val="3843"/>
  <p:tag name="KSO_WM_BEAUTIFY_FLAG" val=""/>
</p:tagLst>
</file>

<file path=ppt/tags/tag40.xml><?xml version="1.0" encoding="utf-8"?>
<p:tagLst xmlns:p="http://schemas.openxmlformats.org/presentationml/2006/main">
  <p:tag name="AS_UNIQUEID" val="3844"/>
  <p:tag name="KSO_WM_BEAUTIFY_FLAG" val=""/>
</p:tagLst>
</file>

<file path=ppt/tags/tag41.xml><?xml version="1.0" encoding="utf-8"?>
<p:tagLst xmlns:p="http://schemas.openxmlformats.org/presentationml/2006/main">
  <p:tag name="AS_UNIQUEID" val="3845"/>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commondata" val="eyJoZGlkIjoiYWZiOGI1YmQxNGI2MTM5NGQwYTM0MWEzYzU3MWI2NDE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2142</Words>
  <Application>WPS 演示</Application>
  <PresentationFormat>宽屏</PresentationFormat>
  <Paragraphs>124</Paragraphs>
  <Slides>15</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15</vt:i4>
      </vt:variant>
    </vt:vector>
  </HeadingPairs>
  <TitlesOfParts>
    <vt:vector size="33" baseType="lpstr">
      <vt:lpstr>Arial</vt:lpstr>
      <vt:lpstr>宋体</vt:lpstr>
      <vt:lpstr>Wingdings</vt:lpstr>
      <vt:lpstr>楷体</vt:lpstr>
      <vt:lpstr>Times New Roman</vt:lpstr>
      <vt:lpstr>Cambria Math</vt:lpstr>
      <vt:lpstr>MS Mincho</vt:lpstr>
      <vt:lpstr>Segoe Print</vt:lpstr>
      <vt:lpstr>Calibri</vt:lpstr>
      <vt:lpstr>微软雅黑</vt:lpstr>
      <vt:lpstr>Arial Unicode MS</vt:lpstr>
      <vt:lpstr>Arial</vt:lpstr>
      <vt:lpstr>PMingLiU</vt:lpstr>
      <vt:lpstr>PMingLiU</vt:lpstr>
      <vt:lpstr>楷体_GB2312</vt:lpstr>
      <vt:lpstr>新宋体</vt:lpstr>
      <vt:lpstr>等线</vt:lpstr>
      <vt:lpstr>WPS</vt:lpstr>
      <vt:lpstr>第2讲    “集合”了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理发师悖论</vt:lpstr>
      <vt:lpstr> 危机的消除</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张菊</dc:creator>
  <cp:lastModifiedBy>DJF</cp:lastModifiedBy>
  <cp:revision>17</cp:revision>
  <dcterms:created xsi:type="dcterms:W3CDTF">2023-08-09T12:44:00Z</dcterms:created>
  <dcterms:modified xsi:type="dcterms:W3CDTF">2024-05-23T16:56:14Z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F92F238F10114834A21092E307FB09CF_13</vt:lpwstr>
  </property>
  <property fmtid="{D5CDD505-2E9C-101B-9397-08002B2CF9AE}" pid="3" name="KSOProductBuildVer">
    <vt:lpwstr>2052-12.1.0.16929</vt:lpwstr>
  </property>
</Properties>
</file>